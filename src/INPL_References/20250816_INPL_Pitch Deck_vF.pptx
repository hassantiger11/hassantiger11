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6" r:id="rId2"/>
    <p:sldId id="291" r:id="rId3"/>
    <p:sldId id="257" r:id="rId4"/>
    <p:sldId id="264" r:id="rId5"/>
    <p:sldId id="289" r:id="rId6"/>
    <p:sldId id="265" r:id="rId7"/>
    <p:sldId id="288" r:id="rId8"/>
    <p:sldId id="266" r:id="rId9"/>
    <p:sldId id="26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EF7B43C-F376-45D6-8386-A109B4E2CCFC}">
          <p14:sldIdLst>
            <p14:sldId id="256"/>
            <p14:sldId id="291"/>
            <p14:sldId id="257"/>
            <p14:sldId id="264"/>
            <p14:sldId id="289"/>
            <p14:sldId id="265"/>
            <p14:sldId id="288"/>
            <p14:sldId id="266"/>
            <p14:sldId id="268"/>
          </p14:sldIdLst>
        </p14:section>
      </p14:sectionLst>
    </p:ext>
    <p:ext uri="{EFAFB233-063F-42B5-8137-9DF3F51BA10A}">
      <p15:sldGuideLst xmlns:p15="http://schemas.microsoft.com/office/powerpoint/2012/main">
        <p15:guide id="2" pos="3840" userDrawn="1">
          <p15:clr>
            <a:srgbClr val="A4A3A4"/>
          </p15:clr>
        </p15:guide>
        <p15:guide id="3"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E902A"/>
    <a:srgbClr val="E6CB8E"/>
    <a:srgbClr val="3494BA"/>
    <a:srgbClr val="241E19"/>
    <a:srgbClr val="BFBFBF"/>
    <a:srgbClr val="00B050"/>
    <a:srgbClr val="C00000"/>
    <a:srgbClr val="FFC000"/>
    <a:srgbClr val="AAA7BC"/>
    <a:srgbClr val="2683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7307" autoAdjust="0"/>
  </p:normalViewPr>
  <p:slideViewPr>
    <p:cSldViewPr snapToGrid="0" showGuides="1">
      <p:cViewPr varScale="1">
        <p:scale>
          <a:sx n="80" d="100"/>
          <a:sy n="80" d="100"/>
        </p:scale>
        <p:origin x="447" y="267"/>
      </p:cViewPr>
      <p:guideLst>
        <p:guide pos="38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A0E780-8213-49ED-8E36-F46E66653F85}" type="datetimeFigureOut">
              <a:rPr lang="en-US" smtClean="0"/>
              <a:t>9/3/2025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B452D4-6836-48DC-A2CD-FDFAF43DB22F}" type="slidenum">
              <a:rPr lang="en-US" smtClean="0"/>
              <a:t>‹#›</a:t>
            </a:fld>
            <a:endParaRPr lang="en-US" dirty="0"/>
          </a:p>
        </p:txBody>
      </p:sp>
    </p:spTree>
    <p:extLst>
      <p:ext uri="{BB962C8B-B14F-4D97-AF65-F5344CB8AC3E}">
        <p14:creationId xmlns:p14="http://schemas.microsoft.com/office/powerpoint/2010/main" val="2555892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E6C8B-C48F-45AC-BB39-1D80E1C8184C}"/>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320D6B5-E455-62B7-D0CA-B594F77E1137}"/>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B57894B-C603-DA7D-86A3-84D0DCA8B9EF}"/>
              </a:ext>
            </a:extLst>
          </p:cNvPr>
          <p:cNvSpPr>
            <a:spLocks noGrp="1"/>
          </p:cNvSpPr>
          <p:nvPr>
            <p:ph type="dt" sz="half" idx="10"/>
          </p:nvPr>
        </p:nvSpPr>
        <p:spPr/>
        <p:txBody>
          <a:bodyPr/>
          <a:lstStyle/>
          <a:p>
            <a:fld id="{0F133326-48BF-4B99-A262-ACB63F09AB85}" type="datetimeFigureOut">
              <a:rPr lang="en-US" smtClean="0"/>
              <a:t>9/3/2025</a:t>
            </a:fld>
            <a:endParaRPr lang="en-US" dirty="0"/>
          </a:p>
        </p:txBody>
      </p:sp>
      <p:sp>
        <p:nvSpPr>
          <p:cNvPr id="5" name="Footer Placeholder 4">
            <a:extLst>
              <a:ext uri="{FF2B5EF4-FFF2-40B4-BE49-F238E27FC236}">
                <a16:creationId xmlns:a16="http://schemas.microsoft.com/office/drawing/2014/main" id="{55CE9BC9-56AF-4E82-FBC4-81303AEDC8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65A201D-811F-4E7F-9633-3B8275F1047B}"/>
              </a:ext>
            </a:extLst>
          </p:cNvPr>
          <p:cNvSpPr>
            <a:spLocks noGrp="1"/>
          </p:cNvSpPr>
          <p:nvPr>
            <p:ph type="sldNum" sz="quarter" idx="12"/>
          </p:nvPr>
        </p:nvSpPr>
        <p:spPr>
          <a:xfrm>
            <a:off x="8610600" y="6356350"/>
            <a:ext cx="2743200" cy="365125"/>
          </a:xfrm>
        </p:spPr>
        <p:txBody>
          <a:bodyPr/>
          <a:lstStyle/>
          <a:p>
            <a:fld id="{2903B415-B56C-4605-8B1A-38E2B55C1866}" type="slidenum">
              <a:rPr lang="en-US" smtClean="0"/>
              <a:t>‹#›</a:t>
            </a:fld>
            <a:endParaRPr lang="en-US" dirty="0"/>
          </a:p>
        </p:txBody>
      </p:sp>
      <p:pic>
        <p:nvPicPr>
          <p:cNvPr id="10" name="Picture 9">
            <a:extLst>
              <a:ext uri="{FF2B5EF4-FFF2-40B4-BE49-F238E27FC236}">
                <a16:creationId xmlns:a16="http://schemas.microsoft.com/office/drawing/2014/main" id="{8D19E250-0166-73A2-97CE-EB8356AEA1F4}"/>
              </a:ext>
            </a:extLst>
          </p:cNvPr>
          <p:cNvPicPr>
            <a:picLocks noChangeAspect="1"/>
          </p:cNvPicPr>
          <p:nvPr userDrawn="1"/>
        </p:nvPicPr>
        <p:blipFill>
          <a:blip r:embed="rId2"/>
          <a:srcRect l="22952" t="8429" r="5733" b="33891"/>
          <a:stretch>
            <a:fillRect/>
          </a:stretch>
        </p:blipFill>
        <p:spPr>
          <a:xfrm>
            <a:off x="8929689" y="4347698"/>
            <a:ext cx="2424112" cy="1901599"/>
          </a:xfrm>
          <a:prstGeom prst="rect">
            <a:avLst/>
          </a:prstGeom>
        </p:spPr>
      </p:pic>
    </p:spTree>
    <p:extLst>
      <p:ext uri="{BB962C8B-B14F-4D97-AF65-F5344CB8AC3E}">
        <p14:creationId xmlns:p14="http://schemas.microsoft.com/office/powerpoint/2010/main" val="22280882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7DBAF-4816-426E-9D6B-2C8A53E66333}"/>
              </a:ext>
            </a:extLst>
          </p:cNvPr>
          <p:cNvSpPr>
            <a:spLocks noGrp="1"/>
          </p:cNvSpPr>
          <p:nvPr>
            <p:ph type="title" hasCustomPrompt="1"/>
          </p:nvPr>
        </p:nvSpPr>
        <p:spPr>
          <a:xfrm>
            <a:off x="609600" y="685800"/>
            <a:ext cx="10972800" cy="647700"/>
          </a:xfrm>
          <a:prstGeom prst="rect">
            <a:avLst/>
          </a:prstGeom>
        </p:spPr>
        <p:txBody>
          <a:bodyPr lIns="0" tIns="0" rIns="0" bIns="0" anchor="t">
            <a:normAutofit/>
          </a:bodyPr>
          <a:lstStyle>
            <a:lvl1pPr>
              <a:defRPr sz="2000" b="1"/>
            </a:lvl1pPr>
          </a:lstStyle>
          <a:p>
            <a:r>
              <a:rPr lang="en-US" dirty="0"/>
              <a:t>Click to edit Master title style</a:t>
            </a:r>
            <a:br>
              <a:rPr lang="en-US" dirty="0"/>
            </a:br>
            <a:r>
              <a:rPr lang="en-US" dirty="0"/>
              <a:t>xxx</a:t>
            </a:r>
          </a:p>
        </p:txBody>
      </p:sp>
      <p:sp>
        <p:nvSpPr>
          <p:cNvPr id="3" name="Content Placeholder 2">
            <a:extLst>
              <a:ext uri="{FF2B5EF4-FFF2-40B4-BE49-F238E27FC236}">
                <a16:creationId xmlns:a16="http://schemas.microsoft.com/office/drawing/2014/main" id="{77C5D079-06EC-7488-7122-AA62833DB507}"/>
              </a:ext>
            </a:extLst>
          </p:cNvPr>
          <p:cNvSpPr>
            <a:spLocks noGrp="1"/>
          </p:cNvSpPr>
          <p:nvPr>
            <p:ph idx="1"/>
          </p:nvPr>
        </p:nvSpPr>
        <p:spPr>
          <a:xfrm>
            <a:off x="609599" y="1492250"/>
            <a:ext cx="10972799" cy="4684713"/>
          </a:xfrm>
          <a:prstGeom prst="rect">
            <a:avLst/>
          </a:prstGeom>
        </p:spPr>
        <p:txBody>
          <a:bodyPr lIns="0" tIns="0" rIns="0" bIns="0">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E443B66-1A6A-7E18-4914-AE3737159777}"/>
              </a:ext>
            </a:extLst>
          </p:cNvPr>
          <p:cNvSpPr>
            <a:spLocks noGrp="1"/>
          </p:cNvSpPr>
          <p:nvPr>
            <p:ph type="ftr" sz="quarter" idx="11"/>
          </p:nvPr>
        </p:nvSpPr>
        <p:spPr/>
        <p:txBody>
          <a:bodyPr/>
          <a:lstStyle>
            <a:lvl1pPr>
              <a:defRPr sz="900"/>
            </a:lvl1pPr>
          </a:lstStyle>
          <a:p>
            <a:endParaRPr lang="en-US" dirty="0"/>
          </a:p>
        </p:txBody>
      </p:sp>
      <p:sp>
        <p:nvSpPr>
          <p:cNvPr id="6" name="Slide Number Placeholder 5">
            <a:extLst>
              <a:ext uri="{FF2B5EF4-FFF2-40B4-BE49-F238E27FC236}">
                <a16:creationId xmlns:a16="http://schemas.microsoft.com/office/drawing/2014/main" id="{5D6CD0EA-6CDB-6233-52E2-8339AAF30579}"/>
              </a:ext>
            </a:extLst>
          </p:cNvPr>
          <p:cNvSpPr>
            <a:spLocks noGrp="1"/>
          </p:cNvSpPr>
          <p:nvPr>
            <p:ph type="sldNum" sz="quarter" idx="12"/>
          </p:nvPr>
        </p:nvSpPr>
        <p:spPr/>
        <p:txBody>
          <a:bodyPr/>
          <a:lstStyle>
            <a:lvl1pPr>
              <a:defRPr sz="900"/>
            </a:lvl1pPr>
          </a:lstStyle>
          <a:p>
            <a:fld id="{2903B415-B56C-4605-8B1A-38E2B55C1866}" type="slidenum">
              <a:rPr lang="en-US" smtClean="0"/>
              <a:pPr/>
              <a:t>‹#›</a:t>
            </a:fld>
            <a:endParaRPr lang="en-US" dirty="0"/>
          </a:p>
        </p:txBody>
      </p:sp>
      <p:sp>
        <p:nvSpPr>
          <p:cNvPr id="10" name="Text Placeholder 9">
            <a:extLst>
              <a:ext uri="{FF2B5EF4-FFF2-40B4-BE49-F238E27FC236}">
                <a16:creationId xmlns:a16="http://schemas.microsoft.com/office/drawing/2014/main" id="{93563BE6-DD2C-E3B1-6E53-A2A7DE59DB66}"/>
              </a:ext>
            </a:extLst>
          </p:cNvPr>
          <p:cNvSpPr>
            <a:spLocks noGrp="1"/>
          </p:cNvSpPr>
          <p:nvPr>
            <p:ph type="body" sz="quarter" idx="13"/>
          </p:nvPr>
        </p:nvSpPr>
        <p:spPr>
          <a:xfrm>
            <a:off x="609600" y="6176963"/>
            <a:ext cx="10972800" cy="544512"/>
          </a:xfrm>
        </p:spPr>
        <p:txBody>
          <a:bodyPr lIns="0" tIns="0" rIns="0" bIns="0" anchor="b">
            <a:noAutofit/>
          </a:bodyPr>
          <a:lstStyle>
            <a:lvl1pPr marL="0" indent="0">
              <a:spcBef>
                <a:spcPts val="0"/>
              </a:spcBef>
              <a:buNone/>
              <a:defRPr sz="900" i="1">
                <a:solidFill>
                  <a:schemeClr val="tx1"/>
                </a:solidFill>
              </a:defRPr>
            </a:lvl1pPr>
            <a:lvl2pPr>
              <a:defRPr sz="900"/>
            </a:lvl2pPr>
            <a:lvl3pPr>
              <a:defRPr sz="900"/>
            </a:lvl3pPr>
            <a:lvl4pPr>
              <a:defRPr sz="900"/>
            </a:lvl4pPr>
            <a:lvl5pPr>
              <a:defRPr sz="900"/>
            </a:lvl5pPr>
          </a:lstStyle>
          <a:p>
            <a:pPr lvl="0"/>
            <a:endParaRPr lang="en-US" dirty="0"/>
          </a:p>
        </p:txBody>
      </p:sp>
      <p:sp>
        <p:nvSpPr>
          <p:cNvPr id="7" name="Content Placeholder 6">
            <a:extLst>
              <a:ext uri="{FF2B5EF4-FFF2-40B4-BE49-F238E27FC236}">
                <a16:creationId xmlns:a16="http://schemas.microsoft.com/office/drawing/2014/main" id="{D9606EE6-3581-3032-07BC-24A3E5734482}"/>
              </a:ext>
            </a:extLst>
          </p:cNvPr>
          <p:cNvSpPr>
            <a:spLocks noGrp="1"/>
          </p:cNvSpPr>
          <p:nvPr>
            <p:ph sz="quarter" idx="14" hasCustomPrompt="1"/>
          </p:nvPr>
        </p:nvSpPr>
        <p:spPr>
          <a:xfrm>
            <a:off x="609600" y="192088"/>
            <a:ext cx="10972800" cy="257175"/>
          </a:xfrm>
        </p:spPr>
        <p:txBody>
          <a:bodyPr lIns="0" tIns="0" rIns="0" bIns="0" anchor="ctr">
            <a:normAutofit/>
          </a:bodyPr>
          <a:lstStyle>
            <a:lvl1pPr marL="0" indent="0">
              <a:buNone/>
              <a:defRPr sz="900" b="1">
                <a:solidFill>
                  <a:schemeClr val="tx1"/>
                </a:solidFill>
              </a:defRPr>
            </a:lvl1pPr>
          </a:lstStyle>
          <a:p>
            <a:pPr lvl="0"/>
            <a:r>
              <a:rPr lang="en-US" dirty="0"/>
              <a:t>Section title</a:t>
            </a:r>
          </a:p>
        </p:txBody>
      </p:sp>
      <p:pic>
        <p:nvPicPr>
          <p:cNvPr id="4" name="Picture 3">
            <a:extLst>
              <a:ext uri="{FF2B5EF4-FFF2-40B4-BE49-F238E27FC236}">
                <a16:creationId xmlns:a16="http://schemas.microsoft.com/office/drawing/2014/main" id="{A0DF9474-9966-027C-678B-A00A93B6AB24}"/>
              </a:ext>
            </a:extLst>
          </p:cNvPr>
          <p:cNvPicPr>
            <a:picLocks noChangeAspect="1"/>
          </p:cNvPicPr>
          <p:nvPr userDrawn="1"/>
        </p:nvPicPr>
        <p:blipFill>
          <a:blip r:embed="rId2"/>
          <a:srcRect l="22952" t="8429" r="5733" b="33891"/>
          <a:stretch>
            <a:fillRect/>
          </a:stretch>
        </p:blipFill>
        <p:spPr>
          <a:xfrm>
            <a:off x="10904878" y="64623"/>
            <a:ext cx="677522" cy="531483"/>
          </a:xfrm>
          <a:prstGeom prst="rect">
            <a:avLst/>
          </a:prstGeom>
        </p:spPr>
      </p:pic>
    </p:spTree>
    <p:extLst>
      <p:ext uri="{BB962C8B-B14F-4D97-AF65-F5344CB8AC3E}">
        <p14:creationId xmlns:p14="http://schemas.microsoft.com/office/powerpoint/2010/main" val="3210289224"/>
      </p:ext>
    </p:extLst>
  </p:cSld>
  <p:clrMapOvr>
    <a:masterClrMapping/>
  </p:clrMapOvr>
  <p:extLst>
    <p:ext uri="{DCECCB84-F9BA-43D5-87BE-67443E8EF086}">
      <p15:sldGuideLst xmlns:p15="http://schemas.microsoft.com/office/powerpoint/2012/main">
        <p15:guide id="1" orient="horz" pos="432">
          <p15:clr>
            <a:srgbClr val="FBAE40"/>
          </p15:clr>
        </p15:guide>
        <p15:guide id="2" pos="3840">
          <p15:clr>
            <a:srgbClr val="FBAE40"/>
          </p15:clr>
        </p15:guide>
        <p15:guide id="3" orient="horz" pos="2260">
          <p15:clr>
            <a:srgbClr val="FBAE40"/>
          </p15:clr>
        </p15:guide>
        <p15:guide id="4" orient="horz" pos="840">
          <p15:clr>
            <a:srgbClr val="FBAE40"/>
          </p15:clr>
        </p15:guide>
        <p15:guide id="5" orient="horz" pos="940">
          <p15:clr>
            <a:srgbClr val="FBAE40"/>
          </p15:clr>
        </p15:guide>
        <p15:guide id="6" pos="7296">
          <p15:clr>
            <a:srgbClr val="FBAE40"/>
          </p15:clr>
        </p15:guide>
        <p15:guide id="7" pos="384">
          <p15:clr>
            <a:srgbClr val="FBAE40"/>
          </p15:clr>
        </p15:guide>
        <p15:guide id="8" orient="horz" pos="38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49506-0270-42F8-EA9B-5990400A72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652237A-301B-E221-CF29-0737025377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BD0291-F222-7AFB-AED2-5C6D72FDE9A9}"/>
              </a:ext>
            </a:extLst>
          </p:cNvPr>
          <p:cNvSpPr>
            <a:spLocks noGrp="1"/>
          </p:cNvSpPr>
          <p:nvPr>
            <p:ph type="dt" sz="half" idx="10"/>
          </p:nvPr>
        </p:nvSpPr>
        <p:spPr/>
        <p:txBody>
          <a:bodyPr/>
          <a:lstStyle/>
          <a:p>
            <a:fld id="{63D9EF71-06B4-4A96-B14C-CE41E3440481}" type="datetimeFigureOut">
              <a:rPr lang="en-US" smtClean="0"/>
              <a:t>9/3/2025</a:t>
            </a:fld>
            <a:endParaRPr lang="en-US" dirty="0"/>
          </a:p>
        </p:txBody>
      </p:sp>
      <p:sp>
        <p:nvSpPr>
          <p:cNvPr id="5" name="Footer Placeholder 4">
            <a:extLst>
              <a:ext uri="{FF2B5EF4-FFF2-40B4-BE49-F238E27FC236}">
                <a16:creationId xmlns:a16="http://schemas.microsoft.com/office/drawing/2014/main" id="{6FBDE1C1-F741-3FB3-E772-B09563E8740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D0361E-ACA9-40BC-5FFB-2DA4C4B4F888}"/>
              </a:ext>
            </a:extLst>
          </p:cNvPr>
          <p:cNvSpPr>
            <a:spLocks noGrp="1"/>
          </p:cNvSpPr>
          <p:nvPr>
            <p:ph type="sldNum" sz="quarter" idx="12"/>
          </p:nvPr>
        </p:nvSpPr>
        <p:spPr/>
        <p:txBody>
          <a:bodyPr/>
          <a:lstStyle/>
          <a:p>
            <a:fld id="{54827359-4DCF-491D-8EF5-80E20E0E0CFE}" type="slidenum">
              <a:rPr lang="en-US" smtClean="0"/>
              <a:t>‹#›</a:t>
            </a:fld>
            <a:endParaRPr lang="en-US" dirty="0"/>
          </a:p>
        </p:txBody>
      </p:sp>
    </p:spTree>
    <p:extLst>
      <p:ext uri="{BB962C8B-B14F-4D97-AF65-F5344CB8AC3E}">
        <p14:creationId xmlns:p14="http://schemas.microsoft.com/office/powerpoint/2010/main" val="2464823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82428-02BF-3052-F00C-BCD30A81C3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A7FF8C-9868-455A-5D7A-D78938FBD1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E38194-8E94-0C30-F933-18CDACA312AD}"/>
              </a:ext>
            </a:extLst>
          </p:cNvPr>
          <p:cNvSpPr>
            <a:spLocks noGrp="1"/>
          </p:cNvSpPr>
          <p:nvPr>
            <p:ph type="dt" sz="half" idx="10"/>
          </p:nvPr>
        </p:nvSpPr>
        <p:spPr/>
        <p:txBody>
          <a:bodyPr/>
          <a:lstStyle/>
          <a:p>
            <a:fld id="{63D9EF71-06B4-4A96-B14C-CE41E3440481}" type="datetimeFigureOut">
              <a:rPr lang="en-US" smtClean="0"/>
              <a:t>9/3/2025</a:t>
            </a:fld>
            <a:endParaRPr lang="en-US" dirty="0"/>
          </a:p>
        </p:txBody>
      </p:sp>
      <p:sp>
        <p:nvSpPr>
          <p:cNvPr id="5" name="Footer Placeholder 4">
            <a:extLst>
              <a:ext uri="{FF2B5EF4-FFF2-40B4-BE49-F238E27FC236}">
                <a16:creationId xmlns:a16="http://schemas.microsoft.com/office/drawing/2014/main" id="{90A2FF2E-EC9A-6C3A-40D4-C3423901188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A4CF24F-84C9-A240-9503-9982C57999A5}"/>
              </a:ext>
            </a:extLst>
          </p:cNvPr>
          <p:cNvSpPr>
            <a:spLocks noGrp="1"/>
          </p:cNvSpPr>
          <p:nvPr>
            <p:ph type="sldNum" sz="quarter" idx="12"/>
          </p:nvPr>
        </p:nvSpPr>
        <p:spPr/>
        <p:txBody>
          <a:bodyPr/>
          <a:lstStyle/>
          <a:p>
            <a:fld id="{54827359-4DCF-491D-8EF5-80E20E0E0CFE}" type="slidenum">
              <a:rPr lang="en-US" smtClean="0"/>
              <a:t>‹#›</a:t>
            </a:fld>
            <a:endParaRPr lang="en-US" dirty="0"/>
          </a:p>
        </p:txBody>
      </p:sp>
    </p:spTree>
    <p:extLst>
      <p:ext uri="{BB962C8B-B14F-4D97-AF65-F5344CB8AC3E}">
        <p14:creationId xmlns:p14="http://schemas.microsoft.com/office/powerpoint/2010/main" val="1402427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55B8AE1-B103-1FC6-6CB7-FB0F160FDA3C}"/>
              </a:ext>
            </a:extLst>
          </p:cNvPr>
          <p:cNvSpPr>
            <a:spLocks noGrp="1"/>
          </p:cNvSpPr>
          <p:nvPr>
            <p:ph type="dt" sz="half" idx="10"/>
          </p:nvPr>
        </p:nvSpPr>
        <p:spPr/>
        <p:txBody>
          <a:bodyPr/>
          <a:lstStyle/>
          <a:p>
            <a:fld id="{63D9EF71-06B4-4A96-B14C-CE41E3440481}" type="datetimeFigureOut">
              <a:rPr lang="en-US" smtClean="0"/>
              <a:t>9/3/2025</a:t>
            </a:fld>
            <a:endParaRPr lang="en-US" dirty="0"/>
          </a:p>
        </p:txBody>
      </p:sp>
      <p:sp>
        <p:nvSpPr>
          <p:cNvPr id="5" name="Footer Placeholder 4">
            <a:extLst>
              <a:ext uri="{FF2B5EF4-FFF2-40B4-BE49-F238E27FC236}">
                <a16:creationId xmlns:a16="http://schemas.microsoft.com/office/drawing/2014/main" id="{E52F5F3B-6D5E-F47F-AB0F-B288832B040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E03E711-AB85-81FD-AF56-3467AE0C0A41}"/>
              </a:ext>
            </a:extLst>
          </p:cNvPr>
          <p:cNvSpPr>
            <a:spLocks noGrp="1"/>
          </p:cNvSpPr>
          <p:nvPr>
            <p:ph type="sldNum" sz="quarter" idx="12"/>
          </p:nvPr>
        </p:nvSpPr>
        <p:spPr/>
        <p:txBody>
          <a:bodyPr/>
          <a:lstStyle/>
          <a:p>
            <a:fld id="{54827359-4DCF-491D-8EF5-80E20E0E0CFE}" type="slidenum">
              <a:rPr lang="en-US" smtClean="0"/>
              <a:t>‹#›</a:t>
            </a:fld>
            <a:endParaRPr lang="en-US" dirty="0"/>
          </a:p>
        </p:txBody>
      </p:sp>
      <p:sp>
        <p:nvSpPr>
          <p:cNvPr id="8" name="Arrow: Pentagon 7">
            <a:extLst>
              <a:ext uri="{FF2B5EF4-FFF2-40B4-BE49-F238E27FC236}">
                <a16:creationId xmlns:a16="http://schemas.microsoft.com/office/drawing/2014/main" id="{508A74DF-ACD8-E226-3DED-39D5509E91EE}"/>
              </a:ext>
            </a:extLst>
          </p:cNvPr>
          <p:cNvSpPr/>
          <p:nvPr userDrawn="1"/>
        </p:nvSpPr>
        <p:spPr>
          <a:xfrm rot="5400000">
            <a:off x="2660650" y="-2673350"/>
            <a:ext cx="6858000" cy="12204700"/>
          </a:xfrm>
          <a:prstGeom prst="homePlate">
            <a:avLst>
              <a:gd name="adj" fmla="val 34289"/>
            </a:avLst>
          </a:prstGeom>
          <a:solidFill>
            <a:schemeClr val="accent1"/>
          </a:solidFill>
          <a:ln>
            <a:noFill/>
          </a:ln>
          <a:effectLst>
            <a:outerShdw blurRad="38100" dir="1800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latin typeface="+mj-lt"/>
            </a:endParaRPr>
          </a:p>
        </p:txBody>
      </p:sp>
      <p:sp>
        <p:nvSpPr>
          <p:cNvPr id="10" name="Text Placeholder 9">
            <a:extLst>
              <a:ext uri="{FF2B5EF4-FFF2-40B4-BE49-F238E27FC236}">
                <a16:creationId xmlns:a16="http://schemas.microsoft.com/office/drawing/2014/main" id="{553EC6E6-F626-6FFC-2748-57DA636ECBD0}"/>
              </a:ext>
            </a:extLst>
          </p:cNvPr>
          <p:cNvSpPr>
            <a:spLocks noGrp="1"/>
          </p:cNvSpPr>
          <p:nvPr>
            <p:ph type="body" sz="quarter" idx="13" hasCustomPrompt="1"/>
          </p:nvPr>
        </p:nvSpPr>
        <p:spPr>
          <a:xfrm>
            <a:off x="609600" y="685800"/>
            <a:ext cx="10972800" cy="5486400"/>
          </a:xfrm>
        </p:spPr>
        <p:txBody>
          <a:bodyPr anchor="ctr">
            <a:normAutofit/>
          </a:bodyPr>
          <a:lstStyle>
            <a:lvl1pPr marL="0" indent="0">
              <a:buNone/>
              <a:defRPr sz="40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z="4000" b="1" dirty="0"/>
              <a:t>Section Title</a:t>
            </a:r>
            <a:endParaRPr lang="en-US" dirty="0"/>
          </a:p>
        </p:txBody>
      </p:sp>
    </p:spTree>
    <p:extLst>
      <p:ext uri="{BB962C8B-B14F-4D97-AF65-F5344CB8AC3E}">
        <p14:creationId xmlns:p14="http://schemas.microsoft.com/office/powerpoint/2010/main" val="1743036538"/>
      </p:ext>
    </p:extLst>
  </p:cSld>
  <p:clrMapOvr>
    <a:masterClrMapping/>
  </p:clrMapOvr>
  <p:extLst>
    <p:ext uri="{DCECCB84-F9BA-43D5-87BE-67443E8EF086}">
      <p15:sldGuideLst xmlns:p15="http://schemas.microsoft.com/office/powerpoint/2012/main">
        <p15:guide id="2" pos="3840" userDrawn="1">
          <p15:clr>
            <a:srgbClr val="FBAE40"/>
          </p15:clr>
        </p15:guide>
        <p15:guide id="3" pos="384" userDrawn="1">
          <p15:clr>
            <a:srgbClr val="FBAE40"/>
          </p15:clr>
        </p15:guide>
        <p15:guide id="4" pos="7296" userDrawn="1">
          <p15:clr>
            <a:srgbClr val="FBAE40"/>
          </p15:clr>
        </p15:guide>
        <p15:guide id="5" orient="horz" pos="3888" userDrawn="1">
          <p15:clr>
            <a:srgbClr val="FBAE40"/>
          </p15:clr>
        </p15:guide>
        <p15:guide id="6" orient="horz" pos="43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457E6-FA2E-F66C-74BF-B6AF4C464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D6653B-6D96-8086-0151-380FEF9E2D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CC45FE2-0F0A-BA12-56D9-E16A1DA2BE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7897F2-2CB8-3222-B5F8-374A0B17FE6C}"/>
              </a:ext>
            </a:extLst>
          </p:cNvPr>
          <p:cNvSpPr>
            <a:spLocks noGrp="1"/>
          </p:cNvSpPr>
          <p:nvPr>
            <p:ph type="dt" sz="half" idx="10"/>
          </p:nvPr>
        </p:nvSpPr>
        <p:spPr/>
        <p:txBody>
          <a:bodyPr/>
          <a:lstStyle/>
          <a:p>
            <a:fld id="{63D9EF71-06B4-4A96-B14C-CE41E3440481}" type="datetimeFigureOut">
              <a:rPr lang="en-US" smtClean="0"/>
              <a:t>9/3/2025</a:t>
            </a:fld>
            <a:endParaRPr lang="en-US" dirty="0"/>
          </a:p>
        </p:txBody>
      </p:sp>
      <p:sp>
        <p:nvSpPr>
          <p:cNvPr id="6" name="Footer Placeholder 5">
            <a:extLst>
              <a:ext uri="{FF2B5EF4-FFF2-40B4-BE49-F238E27FC236}">
                <a16:creationId xmlns:a16="http://schemas.microsoft.com/office/drawing/2014/main" id="{09A456AF-E38F-08F6-ADAA-F32F79E0343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898B524-0BB9-52E7-450D-367CE1776A15}"/>
              </a:ext>
            </a:extLst>
          </p:cNvPr>
          <p:cNvSpPr>
            <a:spLocks noGrp="1"/>
          </p:cNvSpPr>
          <p:nvPr>
            <p:ph type="sldNum" sz="quarter" idx="12"/>
          </p:nvPr>
        </p:nvSpPr>
        <p:spPr/>
        <p:txBody>
          <a:bodyPr/>
          <a:lstStyle/>
          <a:p>
            <a:fld id="{54827359-4DCF-491D-8EF5-80E20E0E0CFE}" type="slidenum">
              <a:rPr lang="en-US" smtClean="0"/>
              <a:t>‹#›</a:t>
            </a:fld>
            <a:endParaRPr lang="en-US" dirty="0"/>
          </a:p>
        </p:txBody>
      </p:sp>
    </p:spTree>
    <p:extLst>
      <p:ext uri="{BB962C8B-B14F-4D97-AF65-F5344CB8AC3E}">
        <p14:creationId xmlns:p14="http://schemas.microsoft.com/office/powerpoint/2010/main" val="2665653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148B1-3653-9826-FADA-CA001AB830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469929-B5DA-E75E-C49F-5345105895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F4F724-76EB-7667-82EB-0691497785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474DDF9-ADD2-5579-99E4-56C42B9C55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320573-891C-42A6-1C6E-C705906A2D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FBD0DC-6AA0-C6F6-6275-868AB8FE7522}"/>
              </a:ext>
            </a:extLst>
          </p:cNvPr>
          <p:cNvSpPr>
            <a:spLocks noGrp="1"/>
          </p:cNvSpPr>
          <p:nvPr>
            <p:ph type="dt" sz="half" idx="10"/>
          </p:nvPr>
        </p:nvSpPr>
        <p:spPr/>
        <p:txBody>
          <a:bodyPr/>
          <a:lstStyle/>
          <a:p>
            <a:fld id="{63D9EF71-06B4-4A96-B14C-CE41E3440481}" type="datetimeFigureOut">
              <a:rPr lang="en-US" smtClean="0"/>
              <a:t>9/3/2025</a:t>
            </a:fld>
            <a:endParaRPr lang="en-US" dirty="0"/>
          </a:p>
        </p:txBody>
      </p:sp>
      <p:sp>
        <p:nvSpPr>
          <p:cNvPr id="8" name="Footer Placeholder 7">
            <a:extLst>
              <a:ext uri="{FF2B5EF4-FFF2-40B4-BE49-F238E27FC236}">
                <a16:creationId xmlns:a16="http://schemas.microsoft.com/office/drawing/2014/main" id="{E093CE42-9912-06B3-8B83-2B7EB176F34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1C75E9E7-F6FD-FE8C-35A1-15EC41240F2D}"/>
              </a:ext>
            </a:extLst>
          </p:cNvPr>
          <p:cNvSpPr>
            <a:spLocks noGrp="1"/>
          </p:cNvSpPr>
          <p:nvPr>
            <p:ph type="sldNum" sz="quarter" idx="12"/>
          </p:nvPr>
        </p:nvSpPr>
        <p:spPr/>
        <p:txBody>
          <a:bodyPr/>
          <a:lstStyle/>
          <a:p>
            <a:fld id="{54827359-4DCF-491D-8EF5-80E20E0E0CFE}" type="slidenum">
              <a:rPr lang="en-US" smtClean="0"/>
              <a:t>‹#›</a:t>
            </a:fld>
            <a:endParaRPr lang="en-US" dirty="0"/>
          </a:p>
        </p:txBody>
      </p:sp>
    </p:spTree>
    <p:extLst>
      <p:ext uri="{BB962C8B-B14F-4D97-AF65-F5344CB8AC3E}">
        <p14:creationId xmlns:p14="http://schemas.microsoft.com/office/powerpoint/2010/main" val="3887057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14DD2-5CF1-7B3A-A68B-C3279274596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CB0E2F-A94E-26B9-A4E2-3A8D8EA9CAFC}"/>
              </a:ext>
            </a:extLst>
          </p:cNvPr>
          <p:cNvSpPr>
            <a:spLocks noGrp="1"/>
          </p:cNvSpPr>
          <p:nvPr>
            <p:ph type="dt" sz="half" idx="10"/>
          </p:nvPr>
        </p:nvSpPr>
        <p:spPr/>
        <p:txBody>
          <a:bodyPr/>
          <a:lstStyle/>
          <a:p>
            <a:fld id="{63D9EF71-06B4-4A96-B14C-CE41E3440481}" type="datetimeFigureOut">
              <a:rPr lang="en-US" smtClean="0"/>
              <a:t>9/3/2025</a:t>
            </a:fld>
            <a:endParaRPr lang="en-US" dirty="0"/>
          </a:p>
        </p:txBody>
      </p:sp>
      <p:sp>
        <p:nvSpPr>
          <p:cNvPr id="4" name="Footer Placeholder 3">
            <a:extLst>
              <a:ext uri="{FF2B5EF4-FFF2-40B4-BE49-F238E27FC236}">
                <a16:creationId xmlns:a16="http://schemas.microsoft.com/office/drawing/2014/main" id="{0B3B2B75-3774-20FB-AEEE-761E3C8C963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1D37C12-D017-4E0D-25C6-2CEE707969A9}"/>
              </a:ext>
            </a:extLst>
          </p:cNvPr>
          <p:cNvSpPr>
            <a:spLocks noGrp="1"/>
          </p:cNvSpPr>
          <p:nvPr>
            <p:ph type="sldNum" sz="quarter" idx="12"/>
          </p:nvPr>
        </p:nvSpPr>
        <p:spPr/>
        <p:txBody>
          <a:bodyPr/>
          <a:lstStyle/>
          <a:p>
            <a:fld id="{54827359-4DCF-491D-8EF5-80E20E0E0CFE}" type="slidenum">
              <a:rPr lang="en-US" smtClean="0"/>
              <a:t>‹#›</a:t>
            </a:fld>
            <a:endParaRPr lang="en-US" dirty="0"/>
          </a:p>
        </p:txBody>
      </p:sp>
    </p:spTree>
    <p:extLst>
      <p:ext uri="{BB962C8B-B14F-4D97-AF65-F5344CB8AC3E}">
        <p14:creationId xmlns:p14="http://schemas.microsoft.com/office/powerpoint/2010/main" val="1671123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284603-1BBF-04AD-A366-D93A13C5F172}"/>
              </a:ext>
            </a:extLst>
          </p:cNvPr>
          <p:cNvSpPr>
            <a:spLocks noGrp="1"/>
          </p:cNvSpPr>
          <p:nvPr>
            <p:ph type="dt" sz="half" idx="10"/>
          </p:nvPr>
        </p:nvSpPr>
        <p:spPr/>
        <p:txBody>
          <a:bodyPr/>
          <a:lstStyle/>
          <a:p>
            <a:fld id="{63D9EF71-06B4-4A96-B14C-CE41E3440481}" type="datetimeFigureOut">
              <a:rPr lang="en-US" smtClean="0"/>
              <a:t>9/3/2025</a:t>
            </a:fld>
            <a:endParaRPr lang="en-US" dirty="0"/>
          </a:p>
        </p:txBody>
      </p:sp>
      <p:sp>
        <p:nvSpPr>
          <p:cNvPr id="3" name="Footer Placeholder 2">
            <a:extLst>
              <a:ext uri="{FF2B5EF4-FFF2-40B4-BE49-F238E27FC236}">
                <a16:creationId xmlns:a16="http://schemas.microsoft.com/office/drawing/2014/main" id="{6F3BF7EB-C408-DD27-DC04-D0345FF93CB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4F7972B-5FE8-6903-5CB7-E65EFA8875A7}"/>
              </a:ext>
            </a:extLst>
          </p:cNvPr>
          <p:cNvSpPr>
            <a:spLocks noGrp="1"/>
          </p:cNvSpPr>
          <p:nvPr>
            <p:ph type="sldNum" sz="quarter" idx="12"/>
          </p:nvPr>
        </p:nvSpPr>
        <p:spPr/>
        <p:txBody>
          <a:bodyPr/>
          <a:lstStyle/>
          <a:p>
            <a:fld id="{54827359-4DCF-491D-8EF5-80E20E0E0CFE}" type="slidenum">
              <a:rPr lang="en-US" smtClean="0"/>
              <a:t>‹#›</a:t>
            </a:fld>
            <a:endParaRPr lang="en-US" dirty="0"/>
          </a:p>
        </p:txBody>
      </p:sp>
    </p:spTree>
    <p:extLst>
      <p:ext uri="{BB962C8B-B14F-4D97-AF65-F5344CB8AC3E}">
        <p14:creationId xmlns:p14="http://schemas.microsoft.com/office/powerpoint/2010/main" val="3059816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F53E4-7467-5B3C-CD7F-346FE67E81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6224D2-61F9-00A1-91B5-FE35F39CBD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97F90E5-D801-EAFF-0825-4430903A73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5939E3-EC63-F01B-819B-CF8A7C9C1D67}"/>
              </a:ext>
            </a:extLst>
          </p:cNvPr>
          <p:cNvSpPr>
            <a:spLocks noGrp="1"/>
          </p:cNvSpPr>
          <p:nvPr>
            <p:ph type="dt" sz="half" idx="10"/>
          </p:nvPr>
        </p:nvSpPr>
        <p:spPr/>
        <p:txBody>
          <a:bodyPr/>
          <a:lstStyle/>
          <a:p>
            <a:fld id="{63D9EF71-06B4-4A96-B14C-CE41E3440481}" type="datetimeFigureOut">
              <a:rPr lang="en-US" smtClean="0"/>
              <a:t>9/3/2025</a:t>
            </a:fld>
            <a:endParaRPr lang="en-US" dirty="0"/>
          </a:p>
        </p:txBody>
      </p:sp>
      <p:sp>
        <p:nvSpPr>
          <p:cNvPr id="6" name="Footer Placeholder 5">
            <a:extLst>
              <a:ext uri="{FF2B5EF4-FFF2-40B4-BE49-F238E27FC236}">
                <a16:creationId xmlns:a16="http://schemas.microsoft.com/office/drawing/2014/main" id="{7354B1C9-A064-D0C0-2964-2863530EBD8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012985A-9C0B-A57C-7450-B0CF5250FD5B}"/>
              </a:ext>
            </a:extLst>
          </p:cNvPr>
          <p:cNvSpPr>
            <a:spLocks noGrp="1"/>
          </p:cNvSpPr>
          <p:nvPr>
            <p:ph type="sldNum" sz="quarter" idx="12"/>
          </p:nvPr>
        </p:nvSpPr>
        <p:spPr/>
        <p:txBody>
          <a:bodyPr/>
          <a:lstStyle/>
          <a:p>
            <a:fld id="{54827359-4DCF-491D-8EF5-80E20E0E0CFE}" type="slidenum">
              <a:rPr lang="en-US" smtClean="0"/>
              <a:t>‹#›</a:t>
            </a:fld>
            <a:endParaRPr lang="en-US" dirty="0"/>
          </a:p>
        </p:txBody>
      </p:sp>
    </p:spTree>
    <p:extLst>
      <p:ext uri="{BB962C8B-B14F-4D97-AF65-F5344CB8AC3E}">
        <p14:creationId xmlns:p14="http://schemas.microsoft.com/office/powerpoint/2010/main" val="3741772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6446E-4189-AA1F-FBF8-142A3F6464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300B60C-D106-E9AE-C6AB-21C0FB5055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25DAC6-F4EC-0080-640D-A1D1FDCF6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13BF17-9E21-231F-7644-94E84F51F301}"/>
              </a:ext>
            </a:extLst>
          </p:cNvPr>
          <p:cNvSpPr>
            <a:spLocks noGrp="1"/>
          </p:cNvSpPr>
          <p:nvPr>
            <p:ph type="dt" sz="half" idx="10"/>
          </p:nvPr>
        </p:nvSpPr>
        <p:spPr/>
        <p:txBody>
          <a:bodyPr/>
          <a:lstStyle/>
          <a:p>
            <a:fld id="{63D9EF71-06B4-4A96-B14C-CE41E3440481}" type="datetimeFigureOut">
              <a:rPr lang="en-US" smtClean="0"/>
              <a:t>9/3/2025</a:t>
            </a:fld>
            <a:endParaRPr lang="en-US" dirty="0"/>
          </a:p>
        </p:txBody>
      </p:sp>
      <p:sp>
        <p:nvSpPr>
          <p:cNvPr id="6" name="Footer Placeholder 5">
            <a:extLst>
              <a:ext uri="{FF2B5EF4-FFF2-40B4-BE49-F238E27FC236}">
                <a16:creationId xmlns:a16="http://schemas.microsoft.com/office/drawing/2014/main" id="{01FF1693-ACF1-5DC7-CA7B-1E4D60DAA57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44FF9D5-FB26-13BA-7DE6-ADB369ADD5FF}"/>
              </a:ext>
            </a:extLst>
          </p:cNvPr>
          <p:cNvSpPr>
            <a:spLocks noGrp="1"/>
          </p:cNvSpPr>
          <p:nvPr>
            <p:ph type="sldNum" sz="quarter" idx="12"/>
          </p:nvPr>
        </p:nvSpPr>
        <p:spPr/>
        <p:txBody>
          <a:bodyPr/>
          <a:lstStyle/>
          <a:p>
            <a:fld id="{54827359-4DCF-491D-8EF5-80E20E0E0CFE}" type="slidenum">
              <a:rPr lang="en-US" smtClean="0"/>
              <a:t>‹#›</a:t>
            </a:fld>
            <a:endParaRPr lang="en-US" dirty="0"/>
          </a:p>
        </p:txBody>
      </p:sp>
    </p:spTree>
    <p:extLst>
      <p:ext uri="{BB962C8B-B14F-4D97-AF65-F5344CB8AC3E}">
        <p14:creationId xmlns:p14="http://schemas.microsoft.com/office/powerpoint/2010/main" val="5652839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F4423-64BD-5F0E-F5F3-FBF7570E625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E6D18A-97B4-745B-CB29-08D4D88DBC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D889C6-DBE7-36A3-D5AF-ED8DF6304163}"/>
              </a:ext>
            </a:extLst>
          </p:cNvPr>
          <p:cNvSpPr>
            <a:spLocks noGrp="1"/>
          </p:cNvSpPr>
          <p:nvPr>
            <p:ph type="dt" sz="half" idx="10"/>
          </p:nvPr>
        </p:nvSpPr>
        <p:spPr/>
        <p:txBody>
          <a:bodyPr/>
          <a:lstStyle/>
          <a:p>
            <a:fld id="{63D9EF71-06B4-4A96-B14C-CE41E3440481}" type="datetimeFigureOut">
              <a:rPr lang="en-US" smtClean="0"/>
              <a:t>9/3/2025</a:t>
            </a:fld>
            <a:endParaRPr lang="en-US" dirty="0"/>
          </a:p>
        </p:txBody>
      </p:sp>
      <p:sp>
        <p:nvSpPr>
          <p:cNvPr id="5" name="Footer Placeholder 4">
            <a:extLst>
              <a:ext uri="{FF2B5EF4-FFF2-40B4-BE49-F238E27FC236}">
                <a16:creationId xmlns:a16="http://schemas.microsoft.com/office/drawing/2014/main" id="{9B85F338-D4F6-F3B0-49C9-F9A97387EA6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5AD6122-5CB5-CC7B-0DFF-03038209068C}"/>
              </a:ext>
            </a:extLst>
          </p:cNvPr>
          <p:cNvSpPr>
            <a:spLocks noGrp="1"/>
          </p:cNvSpPr>
          <p:nvPr>
            <p:ph type="sldNum" sz="quarter" idx="12"/>
          </p:nvPr>
        </p:nvSpPr>
        <p:spPr/>
        <p:txBody>
          <a:bodyPr/>
          <a:lstStyle/>
          <a:p>
            <a:fld id="{54827359-4DCF-491D-8EF5-80E20E0E0CFE}" type="slidenum">
              <a:rPr lang="en-US" smtClean="0"/>
              <a:t>‹#›</a:t>
            </a:fld>
            <a:endParaRPr lang="en-US" dirty="0"/>
          </a:p>
        </p:txBody>
      </p:sp>
    </p:spTree>
    <p:extLst>
      <p:ext uri="{BB962C8B-B14F-4D97-AF65-F5344CB8AC3E}">
        <p14:creationId xmlns:p14="http://schemas.microsoft.com/office/powerpoint/2010/main" val="2158100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CA2FE0-4512-2BF8-614F-0A653B48CA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9B9532-B5A8-BB37-D046-2444038B0A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23ECBA-77C8-CB9D-E0F6-3AAB3CEF8EDF}"/>
              </a:ext>
            </a:extLst>
          </p:cNvPr>
          <p:cNvSpPr>
            <a:spLocks noGrp="1"/>
          </p:cNvSpPr>
          <p:nvPr>
            <p:ph type="dt" sz="half" idx="10"/>
          </p:nvPr>
        </p:nvSpPr>
        <p:spPr/>
        <p:txBody>
          <a:bodyPr/>
          <a:lstStyle/>
          <a:p>
            <a:fld id="{63D9EF71-06B4-4A96-B14C-CE41E3440481}" type="datetimeFigureOut">
              <a:rPr lang="en-US" smtClean="0"/>
              <a:t>9/3/2025</a:t>
            </a:fld>
            <a:endParaRPr lang="en-US" dirty="0"/>
          </a:p>
        </p:txBody>
      </p:sp>
      <p:sp>
        <p:nvSpPr>
          <p:cNvPr id="5" name="Footer Placeholder 4">
            <a:extLst>
              <a:ext uri="{FF2B5EF4-FFF2-40B4-BE49-F238E27FC236}">
                <a16:creationId xmlns:a16="http://schemas.microsoft.com/office/drawing/2014/main" id="{97BAD01B-6BCE-24E7-3EF3-6DFF60B3958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253ADC-8D72-E280-1508-96F9638D44B2}"/>
              </a:ext>
            </a:extLst>
          </p:cNvPr>
          <p:cNvSpPr>
            <a:spLocks noGrp="1"/>
          </p:cNvSpPr>
          <p:nvPr>
            <p:ph type="sldNum" sz="quarter" idx="12"/>
          </p:nvPr>
        </p:nvSpPr>
        <p:spPr/>
        <p:txBody>
          <a:bodyPr/>
          <a:lstStyle/>
          <a:p>
            <a:fld id="{54827359-4DCF-491D-8EF5-80E20E0E0CFE}" type="slidenum">
              <a:rPr lang="en-US" smtClean="0"/>
              <a:t>‹#›</a:t>
            </a:fld>
            <a:endParaRPr lang="en-US" dirty="0"/>
          </a:p>
        </p:txBody>
      </p:sp>
    </p:spTree>
    <p:extLst>
      <p:ext uri="{BB962C8B-B14F-4D97-AF65-F5344CB8AC3E}">
        <p14:creationId xmlns:p14="http://schemas.microsoft.com/office/powerpoint/2010/main" val="3663176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ECD1986-9833-6B31-8279-CF0025F35B25}"/>
              </a:ext>
            </a:extLst>
          </p:cNvPr>
          <p:cNvSpPr/>
          <p:nvPr userDrawn="1"/>
        </p:nvSpPr>
        <p:spPr>
          <a:xfrm>
            <a:off x="0" y="6411558"/>
            <a:ext cx="12192000" cy="446442"/>
          </a:xfrm>
          <a:prstGeom prst="rect">
            <a:avLst/>
          </a:prstGeom>
          <a:gradFill>
            <a:gsLst>
              <a:gs pos="100000">
                <a:schemeClr val="bg1"/>
              </a:gs>
              <a:gs pos="0">
                <a:srgbClr val="E6CB8E"/>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latin typeface="+mj-lt"/>
            </a:endParaRPr>
          </a:p>
        </p:txBody>
      </p:sp>
      <p:sp>
        <p:nvSpPr>
          <p:cNvPr id="7" name="Rectangle 6">
            <a:extLst>
              <a:ext uri="{FF2B5EF4-FFF2-40B4-BE49-F238E27FC236}">
                <a16:creationId xmlns:a16="http://schemas.microsoft.com/office/drawing/2014/main" id="{90DD5D23-01B2-8747-6636-F8EDE1010C6B}"/>
              </a:ext>
            </a:extLst>
          </p:cNvPr>
          <p:cNvSpPr/>
          <p:nvPr userDrawn="1"/>
        </p:nvSpPr>
        <p:spPr>
          <a:xfrm>
            <a:off x="0" y="0"/>
            <a:ext cx="12192000" cy="446442"/>
          </a:xfrm>
          <a:prstGeom prst="rect">
            <a:avLst/>
          </a:prstGeom>
          <a:gradFill>
            <a:gsLst>
              <a:gs pos="100000">
                <a:schemeClr val="bg1"/>
              </a:gs>
              <a:gs pos="0">
                <a:srgbClr val="E6CB8E"/>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latin typeface="+mj-lt"/>
            </a:endParaRPr>
          </a:p>
        </p:txBody>
      </p:sp>
      <p:sp>
        <p:nvSpPr>
          <p:cNvPr id="2" name="Title Placeholder 1">
            <a:extLst>
              <a:ext uri="{FF2B5EF4-FFF2-40B4-BE49-F238E27FC236}">
                <a16:creationId xmlns:a16="http://schemas.microsoft.com/office/drawing/2014/main" id="{BF9A5552-78DA-E4C8-059C-58115B4271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5E6BAA-E81B-9E5A-DD4D-C358722A4D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064A55-53E1-C22D-788F-13C192BB21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D9EF71-06B4-4A96-B14C-CE41E3440481}" type="datetimeFigureOut">
              <a:rPr lang="en-US" smtClean="0"/>
              <a:t>9/3/2025</a:t>
            </a:fld>
            <a:endParaRPr lang="en-US" dirty="0"/>
          </a:p>
        </p:txBody>
      </p:sp>
      <p:sp>
        <p:nvSpPr>
          <p:cNvPr id="5" name="Footer Placeholder 4">
            <a:extLst>
              <a:ext uri="{FF2B5EF4-FFF2-40B4-BE49-F238E27FC236}">
                <a16:creationId xmlns:a16="http://schemas.microsoft.com/office/drawing/2014/main" id="{A82F62A5-02F1-7365-0AE5-6A1AB02156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AC300B28-6E8B-4225-17AF-8F509E8C9A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827359-4DCF-491D-8EF5-80E20E0E0CFE}" type="slidenum">
              <a:rPr lang="en-US" smtClean="0"/>
              <a:t>‹#›</a:t>
            </a:fld>
            <a:endParaRPr lang="en-US" dirty="0"/>
          </a:p>
        </p:txBody>
      </p:sp>
    </p:spTree>
    <p:extLst>
      <p:ext uri="{BB962C8B-B14F-4D97-AF65-F5344CB8AC3E}">
        <p14:creationId xmlns:p14="http://schemas.microsoft.com/office/powerpoint/2010/main" val="3898074935"/>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0410F-101E-F436-2BAE-992CD6074FDD}"/>
              </a:ext>
            </a:extLst>
          </p:cNvPr>
          <p:cNvSpPr>
            <a:spLocks noGrp="1"/>
          </p:cNvSpPr>
          <p:nvPr>
            <p:ph type="ctrTitle"/>
          </p:nvPr>
        </p:nvSpPr>
        <p:spPr/>
        <p:txBody>
          <a:bodyPr/>
          <a:lstStyle/>
          <a:p>
            <a:r>
              <a:rPr lang="en-US" dirty="0" err="1">
                <a:solidFill>
                  <a:schemeClr val="accent1"/>
                </a:solidFill>
              </a:rPr>
              <a:t>Xlta</a:t>
            </a:r>
            <a:endParaRPr lang="en-US" dirty="0">
              <a:solidFill>
                <a:schemeClr val="accent1"/>
              </a:solidFill>
            </a:endParaRPr>
          </a:p>
        </p:txBody>
      </p:sp>
      <p:sp>
        <p:nvSpPr>
          <p:cNvPr id="3" name="Subtitle 2">
            <a:extLst>
              <a:ext uri="{FF2B5EF4-FFF2-40B4-BE49-F238E27FC236}">
                <a16:creationId xmlns:a16="http://schemas.microsoft.com/office/drawing/2014/main" id="{31C2E57A-87B7-69B5-7D50-9541328C9E03}"/>
              </a:ext>
            </a:extLst>
          </p:cNvPr>
          <p:cNvSpPr>
            <a:spLocks noGrp="1"/>
          </p:cNvSpPr>
          <p:nvPr>
            <p:ph type="subTitle" idx="1"/>
          </p:nvPr>
        </p:nvSpPr>
        <p:spPr/>
        <p:txBody>
          <a:bodyPr/>
          <a:lstStyle/>
          <a:p>
            <a:pPr algn="l"/>
            <a:r>
              <a:rPr lang="en-US" dirty="0">
                <a:solidFill>
                  <a:schemeClr val="accent1"/>
                </a:solidFill>
              </a:rPr>
              <a:t>Sep 2025</a:t>
            </a:r>
          </a:p>
          <a:p>
            <a:pPr algn="l"/>
            <a:r>
              <a:rPr lang="en-US">
                <a:solidFill>
                  <a:schemeClr val="accent1"/>
                </a:solidFill>
              </a:rPr>
              <a:t>Pitch Deck</a:t>
            </a:r>
            <a:endParaRPr lang="en-US" dirty="0">
              <a:solidFill>
                <a:schemeClr val="accent1"/>
              </a:solidFill>
            </a:endParaRPr>
          </a:p>
        </p:txBody>
      </p:sp>
    </p:spTree>
    <p:extLst>
      <p:ext uri="{BB962C8B-B14F-4D97-AF65-F5344CB8AC3E}">
        <p14:creationId xmlns:p14="http://schemas.microsoft.com/office/powerpoint/2010/main" val="3013448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B5AF3-449D-5351-3CDA-1A53F1602DB7}"/>
              </a:ext>
            </a:extLst>
          </p:cNvPr>
          <p:cNvSpPr>
            <a:spLocks noGrp="1"/>
          </p:cNvSpPr>
          <p:nvPr>
            <p:ph type="title"/>
          </p:nvPr>
        </p:nvSpPr>
        <p:spPr/>
        <p:txBody>
          <a:bodyPr/>
          <a:lstStyle/>
          <a:p>
            <a:r>
              <a:rPr lang="en-US" dirty="0"/>
              <a:t>Feasibility Study Requirements</a:t>
            </a:r>
          </a:p>
        </p:txBody>
      </p:sp>
      <p:sp>
        <p:nvSpPr>
          <p:cNvPr id="3" name="Content Placeholder 2">
            <a:extLst>
              <a:ext uri="{FF2B5EF4-FFF2-40B4-BE49-F238E27FC236}">
                <a16:creationId xmlns:a16="http://schemas.microsoft.com/office/drawing/2014/main" id="{3A99FF80-F476-5562-F131-DABCA22CBE6D}"/>
              </a:ext>
            </a:extLst>
          </p:cNvPr>
          <p:cNvSpPr>
            <a:spLocks noGrp="1"/>
          </p:cNvSpPr>
          <p:nvPr>
            <p:ph idx="1"/>
          </p:nvPr>
        </p:nvSpPr>
        <p:spPr/>
        <p:txBody>
          <a:bodyPr/>
          <a:lstStyle/>
          <a:p>
            <a:r>
              <a:rPr lang="en-US" dirty="0"/>
              <a:t>Business analysis:</a:t>
            </a:r>
          </a:p>
          <a:p>
            <a:pPr lvl="1"/>
            <a:r>
              <a:rPr lang="en-US" dirty="0"/>
              <a:t>The general Ecosystem of investment</a:t>
            </a:r>
          </a:p>
          <a:p>
            <a:pPr lvl="2"/>
            <a:r>
              <a:rPr lang="en-US" dirty="0"/>
              <a:t>KSA vison ….</a:t>
            </a:r>
          </a:p>
          <a:p>
            <a:pPr lvl="1"/>
            <a:r>
              <a:rPr lang="en-US" dirty="0"/>
              <a:t>The sector I am targeting </a:t>
            </a:r>
          </a:p>
          <a:p>
            <a:pPr lvl="2"/>
            <a:r>
              <a:rPr lang="en-US" dirty="0"/>
              <a:t>At the end of these pages they are looking to </a:t>
            </a:r>
          </a:p>
          <a:p>
            <a:pPr lvl="3"/>
            <a:r>
              <a:rPr lang="en-US" dirty="0"/>
              <a:t>Go or no go</a:t>
            </a:r>
          </a:p>
          <a:p>
            <a:pPr lvl="1"/>
            <a:r>
              <a:rPr lang="en-US" dirty="0"/>
              <a:t>The problem</a:t>
            </a:r>
          </a:p>
          <a:p>
            <a:pPr lvl="1"/>
            <a:r>
              <a:rPr lang="en-US" dirty="0"/>
              <a:t>What I solve</a:t>
            </a:r>
          </a:p>
          <a:p>
            <a:r>
              <a:rPr lang="en-US" dirty="0"/>
              <a:t>Operational strategy</a:t>
            </a:r>
          </a:p>
          <a:p>
            <a:r>
              <a:rPr lang="en-US" dirty="0"/>
              <a:t>Financial Study</a:t>
            </a:r>
          </a:p>
          <a:p>
            <a:pPr lvl="1"/>
            <a:r>
              <a:rPr lang="en-US" dirty="0"/>
              <a:t>Profit/loss</a:t>
            </a:r>
          </a:p>
          <a:p>
            <a:pPr lvl="1"/>
            <a:r>
              <a:rPr lang="en-US" dirty="0"/>
              <a:t>Operational needs</a:t>
            </a:r>
          </a:p>
          <a:p>
            <a:pPr lvl="1"/>
            <a:endParaRPr lang="en-US" dirty="0"/>
          </a:p>
        </p:txBody>
      </p:sp>
      <p:sp>
        <p:nvSpPr>
          <p:cNvPr id="4" name="Text Placeholder 3">
            <a:extLst>
              <a:ext uri="{FF2B5EF4-FFF2-40B4-BE49-F238E27FC236}">
                <a16:creationId xmlns:a16="http://schemas.microsoft.com/office/drawing/2014/main" id="{80C8B853-6BCA-FA77-0E86-4BF3DC03A8E4}"/>
              </a:ext>
            </a:extLst>
          </p:cNvPr>
          <p:cNvSpPr>
            <a:spLocks noGrp="1"/>
          </p:cNvSpPr>
          <p:nvPr>
            <p:ph type="body" sz="quarter" idx="13"/>
          </p:nvPr>
        </p:nvSpPr>
        <p:spPr/>
        <p:txBody>
          <a:bodyPr/>
          <a:lstStyle/>
          <a:p>
            <a:endParaRPr lang="en-US"/>
          </a:p>
        </p:txBody>
      </p:sp>
      <p:sp>
        <p:nvSpPr>
          <p:cNvPr id="5" name="Content Placeholder 4">
            <a:extLst>
              <a:ext uri="{FF2B5EF4-FFF2-40B4-BE49-F238E27FC236}">
                <a16:creationId xmlns:a16="http://schemas.microsoft.com/office/drawing/2014/main" id="{18BF43FC-E1FA-782D-FD77-4D3A5C99D5D1}"/>
              </a:ext>
            </a:extLst>
          </p:cNvPr>
          <p:cNvSpPr>
            <a:spLocks noGrp="1"/>
          </p:cNvSpPr>
          <p:nvPr>
            <p:ph sz="quarter" idx="14"/>
          </p:nvPr>
        </p:nvSpPr>
        <p:spPr/>
        <p:txBody>
          <a:bodyPr/>
          <a:lstStyle/>
          <a:p>
            <a:endParaRPr lang="en-US"/>
          </a:p>
        </p:txBody>
      </p:sp>
      <p:sp>
        <p:nvSpPr>
          <p:cNvPr id="6" name="Rectangle 5">
            <a:extLst>
              <a:ext uri="{FF2B5EF4-FFF2-40B4-BE49-F238E27FC236}">
                <a16:creationId xmlns:a16="http://schemas.microsoft.com/office/drawing/2014/main" id="{BE417E3B-A894-BF11-01E7-42941C9ED191}"/>
              </a:ext>
            </a:extLst>
          </p:cNvPr>
          <p:cNvSpPr/>
          <p:nvPr/>
        </p:nvSpPr>
        <p:spPr>
          <a:xfrm>
            <a:off x="5256306" y="1499394"/>
            <a:ext cx="2668494" cy="914400"/>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err="1">
                <a:solidFill>
                  <a:schemeClr val="tx1"/>
                </a:solidFill>
                <a:latin typeface="+mj-lt"/>
              </a:rPr>
              <a:t>Monshaat</a:t>
            </a:r>
            <a:r>
              <a:rPr lang="en-US" sz="1200" dirty="0">
                <a:solidFill>
                  <a:schemeClr val="tx1"/>
                </a:solidFill>
                <a:latin typeface="+mj-lt"/>
              </a:rPr>
              <a:t> </a:t>
            </a:r>
            <a:r>
              <a:rPr lang="en-US" sz="1200" dirty="0" err="1">
                <a:solidFill>
                  <a:schemeClr val="tx1"/>
                </a:solidFill>
                <a:latin typeface="+mj-lt"/>
              </a:rPr>
              <a:t>doensn’t</a:t>
            </a:r>
            <a:r>
              <a:rPr lang="en-US" sz="1200" dirty="0">
                <a:solidFill>
                  <a:schemeClr val="tx1"/>
                </a:solidFill>
                <a:latin typeface="+mj-lt"/>
              </a:rPr>
              <a:t> help with feasibility study</a:t>
            </a:r>
          </a:p>
        </p:txBody>
      </p:sp>
      <p:sp>
        <p:nvSpPr>
          <p:cNvPr id="7" name="Rectangle 6">
            <a:extLst>
              <a:ext uri="{FF2B5EF4-FFF2-40B4-BE49-F238E27FC236}">
                <a16:creationId xmlns:a16="http://schemas.microsoft.com/office/drawing/2014/main" id="{E10ECD45-4927-C520-8EBF-9EE6ECDECAA9}"/>
              </a:ext>
            </a:extLst>
          </p:cNvPr>
          <p:cNvSpPr/>
          <p:nvPr/>
        </p:nvSpPr>
        <p:spPr>
          <a:xfrm>
            <a:off x="5256306" y="2514600"/>
            <a:ext cx="2668494" cy="914400"/>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mj-lt"/>
              </a:rPr>
              <a:t>Look at the </a:t>
            </a:r>
          </a:p>
        </p:txBody>
      </p:sp>
      <p:sp>
        <p:nvSpPr>
          <p:cNvPr id="8" name="Rectangle 7">
            <a:extLst>
              <a:ext uri="{FF2B5EF4-FFF2-40B4-BE49-F238E27FC236}">
                <a16:creationId xmlns:a16="http://schemas.microsoft.com/office/drawing/2014/main" id="{78B75D86-A4DB-39F2-185C-C09427C1DB95}"/>
              </a:ext>
            </a:extLst>
          </p:cNvPr>
          <p:cNvSpPr/>
          <p:nvPr/>
        </p:nvSpPr>
        <p:spPr>
          <a:xfrm>
            <a:off x="8913904" y="4081463"/>
            <a:ext cx="2668494" cy="914400"/>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mj-lt"/>
              </a:rPr>
              <a:t>Talk to Hassan Al Zahrani</a:t>
            </a:r>
          </a:p>
          <a:p>
            <a:r>
              <a:rPr lang="en-US" sz="1200" dirty="0">
                <a:solidFill>
                  <a:schemeClr val="tx1"/>
                </a:solidFill>
                <a:latin typeface="+mj-lt"/>
              </a:rPr>
              <a:t>For the Financial Manager</a:t>
            </a:r>
          </a:p>
          <a:p>
            <a:endParaRPr lang="en-US" sz="1200" dirty="0">
              <a:solidFill>
                <a:schemeClr val="tx1"/>
              </a:solidFill>
              <a:latin typeface="+mj-lt"/>
            </a:endParaRPr>
          </a:p>
        </p:txBody>
      </p:sp>
      <p:sp>
        <p:nvSpPr>
          <p:cNvPr id="9" name="Rectangle 8">
            <a:extLst>
              <a:ext uri="{FF2B5EF4-FFF2-40B4-BE49-F238E27FC236}">
                <a16:creationId xmlns:a16="http://schemas.microsoft.com/office/drawing/2014/main" id="{536FB361-1D00-480F-58B7-ECC9E336B825}"/>
              </a:ext>
            </a:extLst>
          </p:cNvPr>
          <p:cNvSpPr/>
          <p:nvPr/>
        </p:nvSpPr>
        <p:spPr>
          <a:xfrm>
            <a:off x="8913904" y="5118288"/>
            <a:ext cx="2668494" cy="914400"/>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mj-lt"/>
              </a:rPr>
              <a:t>Talk to Hazim Al Qahtani</a:t>
            </a:r>
          </a:p>
          <a:p>
            <a:r>
              <a:rPr lang="en-US" sz="1200" dirty="0">
                <a:solidFill>
                  <a:schemeClr val="tx1"/>
                </a:solidFill>
                <a:latin typeface="+mj-lt"/>
              </a:rPr>
              <a:t>For</a:t>
            </a:r>
          </a:p>
          <a:p>
            <a:endParaRPr lang="en-US" sz="1200" dirty="0">
              <a:solidFill>
                <a:schemeClr val="tx1"/>
              </a:solidFill>
              <a:latin typeface="+mj-lt"/>
            </a:endParaRPr>
          </a:p>
        </p:txBody>
      </p:sp>
      <p:sp>
        <p:nvSpPr>
          <p:cNvPr id="10" name="Rectangle 9">
            <a:extLst>
              <a:ext uri="{FF2B5EF4-FFF2-40B4-BE49-F238E27FC236}">
                <a16:creationId xmlns:a16="http://schemas.microsoft.com/office/drawing/2014/main" id="{EF84E867-11CF-DD67-FD06-0413F736F960}"/>
              </a:ext>
            </a:extLst>
          </p:cNvPr>
          <p:cNvSpPr/>
          <p:nvPr/>
        </p:nvSpPr>
        <p:spPr>
          <a:xfrm>
            <a:off x="11740775" y="5118288"/>
            <a:ext cx="2668494" cy="914400"/>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mj-lt"/>
              </a:rPr>
              <a:t>Talk to Nader Al Otaibi</a:t>
            </a:r>
          </a:p>
          <a:p>
            <a:r>
              <a:rPr lang="en-US" sz="1200" dirty="0">
                <a:solidFill>
                  <a:schemeClr val="tx1"/>
                </a:solidFill>
                <a:latin typeface="+mj-lt"/>
              </a:rPr>
              <a:t>Strategy</a:t>
            </a:r>
          </a:p>
          <a:p>
            <a:endParaRPr lang="en-US" sz="1200" dirty="0">
              <a:solidFill>
                <a:schemeClr val="tx1"/>
              </a:solidFill>
              <a:latin typeface="+mj-lt"/>
            </a:endParaRPr>
          </a:p>
        </p:txBody>
      </p:sp>
      <p:sp>
        <p:nvSpPr>
          <p:cNvPr id="11" name="Rectangle 10">
            <a:extLst>
              <a:ext uri="{FF2B5EF4-FFF2-40B4-BE49-F238E27FC236}">
                <a16:creationId xmlns:a16="http://schemas.microsoft.com/office/drawing/2014/main" id="{8491E855-B478-08C1-7BA5-78E17FB0DADC}"/>
              </a:ext>
            </a:extLst>
          </p:cNvPr>
          <p:cNvSpPr/>
          <p:nvPr/>
        </p:nvSpPr>
        <p:spPr>
          <a:xfrm>
            <a:off x="11740775" y="3834606"/>
            <a:ext cx="2668494" cy="914400"/>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mj-lt"/>
              </a:rPr>
              <a:t>Talk to Waleed </a:t>
            </a:r>
            <a:r>
              <a:rPr lang="en-US" sz="1200" dirty="0" err="1">
                <a:solidFill>
                  <a:schemeClr val="tx1"/>
                </a:solidFill>
                <a:latin typeface="+mj-lt"/>
              </a:rPr>
              <a:t>Bahkali</a:t>
            </a:r>
            <a:r>
              <a:rPr lang="en-US" sz="1200" dirty="0">
                <a:solidFill>
                  <a:schemeClr val="tx1"/>
                </a:solidFill>
                <a:latin typeface="+mj-lt"/>
              </a:rPr>
              <a:t> (</a:t>
            </a:r>
            <a:r>
              <a:rPr lang="en-US" sz="1200" dirty="0" err="1">
                <a:solidFill>
                  <a:schemeClr val="tx1"/>
                </a:solidFill>
                <a:latin typeface="+mj-lt"/>
              </a:rPr>
              <a:t>bakri</a:t>
            </a:r>
            <a:r>
              <a:rPr lang="en-US" sz="1200" dirty="0">
                <a:solidFill>
                  <a:schemeClr val="tx1"/>
                </a:solidFill>
                <a:latin typeface="+mj-lt"/>
              </a:rPr>
              <a:t>)</a:t>
            </a:r>
          </a:p>
          <a:p>
            <a:r>
              <a:rPr lang="en-US" sz="1200" dirty="0">
                <a:solidFill>
                  <a:schemeClr val="tx1"/>
                </a:solidFill>
                <a:latin typeface="+mj-lt"/>
              </a:rPr>
              <a:t>Tech</a:t>
            </a:r>
          </a:p>
          <a:p>
            <a:endParaRPr lang="en-US" sz="1200" dirty="0">
              <a:solidFill>
                <a:schemeClr val="tx1"/>
              </a:solidFill>
              <a:latin typeface="+mj-lt"/>
            </a:endParaRPr>
          </a:p>
        </p:txBody>
      </p:sp>
      <p:sp>
        <p:nvSpPr>
          <p:cNvPr id="12" name="Rectangle 11">
            <a:extLst>
              <a:ext uri="{FF2B5EF4-FFF2-40B4-BE49-F238E27FC236}">
                <a16:creationId xmlns:a16="http://schemas.microsoft.com/office/drawing/2014/main" id="{0ED81F3C-A0CE-9C91-2502-95E39495FAD7}"/>
              </a:ext>
            </a:extLst>
          </p:cNvPr>
          <p:cNvSpPr/>
          <p:nvPr/>
        </p:nvSpPr>
        <p:spPr>
          <a:xfrm>
            <a:off x="8913904" y="1956594"/>
            <a:ext cx="2668494" cy="914400"/>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mj-lt"/>
              </a:rPr>
              <a:t>To go to the Saudi Center for Business</a:t>
            </a:r>
          </a:p>
        </p:txBody>
      </p:sp>
      <p:sp>
        <p:nvSpPr>
          <p:cNvPr id="13" name="Rectangle 12">
            <a:extLst>
              <a:ext uri="{FF2B5EF4-FFF2-40B4-BE49-F238E27FC236}">
                <a16:creationId xmlns:a16="http://schemas.microsoft.com/office/drawing/2014/main" id="{5F72B4CB-1868-93B8-EA07-80FBB98F7BD2}"/>
              </a:ext>
            </a:extLst>
          </p:cNvPr>
          <p:cNvSpPr/>
          <p:nvPr/>
        </p:nvSpPr>
        <p:spPr>
          <a:xfrm>
            <a:off x="11650967" y="1956594"/>
            <a:ext cx="2668494" cy="914400"/>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mj-lt"/>
              </a:rPr>
              <a:t>Check for the business</a:t>
            </a:r>
          </a:p>
        </p:txBody>
      </p:sp>
    </p:spTree>
    <p:extLst>
      <p:ext uri="{BB962C8B-B14F-4D97-AF65-F5344CB8AC3E}">
        <p14:creationId xmlns:p14="http://schemas.microsoft.com/office/powerpoint/2010/main" val="2182047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AC157-849A-E2A9-741F-E43E4A407081}"/>
              </a:ext>
            </a:extLst>
          </p:cNvPr>
          <p:cNvSpPr>
            <a:spLocks noGrp="1"/>
          </p:cNvSpPr>
          <p:nvPr>
            <p:ph type="title"/>
          </p:nvPr>
        </p:nvSpPr>
        <p:spPr/>
        <p:txBody>
          <a:bodyPr/>
          <a:lstStyle/>
          <a:p>
            <a:r>
              <a:rPr lang="en-US" dirty="0"/>
              <a:t>We have deeply studied investor journey to understand the problems investors face and where our value is most maximized</a:t>
            </a:r>
          </a:p>
        </p:txBody>
      </p:sp>
      <p:sp>
        <p:nvSpPr>
          <p:cNvPr id="4" name="Text Placeholder 3">
            <a:extLst>
              <a:ext uri="{FF2B5EF4-FFF2-40B4-BE49-F238E27FC236}">
                <a16:creationId xmlns:a16="http://schemas.microsoft.com/office/drawing/2014/main" id="{1142F83A-DB29-8011-993F-DB5701665B98}"/>
              </a:ext>
            </a:extLst>
          </p:cNvPr>
          <p:cNvSpPr>
            <a:spLocks noGrp="1"/>
          </p:cNvSpPr>
          <p:nvPr>
            <p:ph type="body" sz="quarter" idx="13"/>
          </p:nvPr>
        </p:nvSpPr>
        <p:spPr/>
        <p:txBody>
          <a:bodyPr/>
          <a:lstStyle/>
          <a:p>
            <a:r>
              <a:rPr lang="en-US" dirty="0"/>
              <a:t>Notes: 1) we haven’t shows pre-trade steps for the sake of simplifying the graph, 2. Investors might not need to have cash at the time of making the order but they must have it at the point of settlement</a:t>
            </a:r>
          </a:p>
          <a:p>
            <a:r>
              <a:rPr lang="en-US" dirty="0"/>
              <a:t>Source: </a:t>
            </a:r>
            <a:r>
              <a:rPr lang="en-US" dirty="0" err="1"/>
              <a:t>Xlta</a:t>
            </a:r>
            <a:r>
              <a:rPr lang="en-US" dirty="0"/>
              <a:t> analysis</a:t>
            </a:r>
          </a:p>
        </p:txBody>
      </p:sp>
      <p:sp>
        <p:nvSpPr>
          <p:cNvPr id="5" name="Content Placeholder 4">
            <a:extLst>
              <a:ext uri="{FF2B5EF4-FFF2-40B4-BE49-F238E27FC236}">
                <a16:creationId xmlns:a16="http://schemas.microsoft.com/office/drawing/2014/main" id="{087961CA-FA49-2F8D-D112-5AEFE1FD2845}"/>
              </a:ext>
            </a:extLst>
          </p:cNvPr>
          <p:cNvSpPr>
            <a:spLocks noGrp="1"/>
          </p:cNvSpPr>
          <p:nvPr>
            <p:ph sz="quarter" idx="14"/>
          </p:nvPr>
        </p:nvSpPr>
        <p:spPr/>
        <p:txBody>
          <a:bodyPr/>
          <a:lstStyle/>
          <a:p>
            <a:r>
              <a:rPr lang="en-US" dirty="0"/>
              <a:t>Business Case</a:t>
            </a:r>
          </a:p>
        </p:txBody>
      </p:sp>
      <p:sp>
        <p:nvSpPr>
          <p:cNvPr id="12" name="Rectangle 11">
            <a:extLst>
              <a:ext uri="{FF2B5EF4-FFF2-40B4-BE49-F238E27FC236}">
                <a16:creationId xmlns:a16="http://schemas.microsoft.com/office/drawing/2014/main" id="{44CF2AE2-346F-4410-C02F-F354DD3DCBD9}"/>
              </a:ext>
            </a:extLst>
          </p:cNvPr>
          <p:cNvSpPr/>
          <p:nvPr/>
        </p:nvSpPr>
        <p:spPr>
          <a:xfrm>
            <a:off x="609600" y="1492250"/>
            <a:ext cx="10972800" cy="36576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mj-lt"/>
              </a:rPr>
              <a:t>Investor Journey As They Are Making A New Position (Illustrative)</a:t>
            </a:r>
          </a:p>
        </p:txBody>
      </p:sp>
      <p:cxnSp>
        <p:nvCxnSpPr>
          <p:cNvPr id="14" name="Straight Connector 13">
            <a:extLst>
              <a:ext uri="{FF2B5EF4-FFF2-40B4-BE49-F238E27FC236}">
                <a16:creationId xmlns:a16="http://schemas.microsoft.com/office/drawing/2014/main" id="{92D51FF0-DA60-A9FE-4936-78754CAB7B50}"/>
              </a:ext>
            </a:extLst>
          </p:cNvPr>
          <p:cNvCxnSpPr>
            <a:cxnSpLocks/>
          </p:cNvCxnSpPr>
          <p:nvPr/>
        </p:nvCxnSpPr>
        <p:spPr>
          <a:xfrm>
            <a:off x="609600" y="1858010"/>
            <a:ext cx="10972800" cy="0"/>
          </a:xfrm>
          <a:prstGeom prst="line">
            <a:avLst/>
          </a:prstGeom>
          <a:ln>
            <a:solidFill>
              <a:schemeClr val="tx1"/>
            </a:solidFill>
            <a:headEnd type="diamond"/>
            <a:tailEnd type="diamond"/>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09F86553-D622-1B5B-EFCD-D567517F9780}"/>
              </a:ext>
            </a:extLst>
          </p:cNvPr>
          <p:cNvSpPr/>
          <p:nvPr/>
        </p:nvSpPr>
        <p:spPr>
          <a:xfrm>
            <a:off x="609600" y="2155824"/>
            <a:ext cx="1606378" cy="10603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mj-lt"/>
              </a:rPr>
              <a:t>Investor</a:t>
            </a:r>
          </a:p>
        </p:txBody>
      </p:sp>
      <p:sp>
        <p:nvSpPr>
          <p:cNvPr id="25" name="Rectangle 24">
            <a:extLst>
              <a:ext uri="{FF2B5EF4-FFF2-40B4-BE49-F238E27FC236}">
                <a16:creationId xmlns:a16="http://schemas.microsoft.com/office/drawing/2014/main" id="{0715EB4C-4EE9-D0BE-A42F-1EEBFA339B69}"/>
              </a:ext>
            </a:extLst>
          </p:cNvPr>
          <p:cNvSpPr/>
          <p:nvPr/>
        </p:nvSpPr>
        <p:spPr>
          <a:xfrm>
            <a:off x="609600" y="3286135"/>
            <a:ext cx="1606378" cy="141040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mj-lt"/>
              </a:rPr>
              <a:t>Broker</a:t>
            </a:r>
          </a:p>
        </p:txBody>
      </p:sp>
      <p:sp>
        <p:nvSpPr>
          <p:cNvPr id="24" name="Rectangle 23">
            <a:extLst>
              <a:ext uri="{FF2B5EF4-FFF2-40B4-BE49-F238E27FC236}">
                <a16:creationId xmlns:a16="http://schemas.microsoft.com/office/drawing/2014/main" id="{F6654CBE-79C7-9C3F-D9B5-8A34EEF5D887}"/>
              </a:ext>
            </a:extLst>
          </p:cNvPr>
          <p:cNvSpPr/>
          <p:nvPr/>
        </p:nvSpPr>
        <p:spPr>
          <a:xfrm>
            <a:off x="2384612" y="2155824"/>
            <a:ext cx="1300137" cy="106035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Investor Make a request for a new position on their corresponding Broker</a:t>
            </a:r>
          </a:p>
        </p:txBody>
      </p:sp>
      <p:sp>
        <p:nvSpPr>
          <p:cNvPr id="26" name="Diamond 25">
            <a:extLst>
              <a:ext uri="{FF2B5EF4-FFF2-40B4-BE49-F238E27FC236}">
                <a16:creationId xmlns:a16="http://schemas.microsoft.com/office/drawing/2014/main" id="{23D2E842-42A4-AAF3-85C0-14EE6087B63B}"/>
              </a:ext>
            </a:extLst>
          </p:cNvPr>
          <p:cNvSpPr/>
          <p:nvPr/>
        </p:nvSpPr>
        <p:spPr>
          <a:xfrm>
            <a:off x="3118364" y="3286135"/>
            <a:ext cx="2533601" cy="1060357"/>
          </a:xfrm>
          <a:prstGeom prst="diamond">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dirty="0">
                <a:solidFill>
                  <a:schemeClr val="tx1"/>
                </a:solidFill>
                <a:latin typeface="+mj-lt"/>
              </a:rPr>
              <a:t>Does </a:t>
            </a:r>
            <a:r>
              <a:rPr lang="en-US" sz="1200" b="1" dirty="0">
                <a:solidFill>
                  <a:schemeClr val="tx1"/>
                </a:solidFill>
                <a:latin typeface="+mj-lt"/>
              </a:rPr>
              <a:t>Investor have enough funds </a:t>
            </a:r>
            <a:r>
              <a:rPr lang="en-US" sz="1200" dirty="0">
                <a:solidFill>
                  <a:schemeClr val="tx1"/>
                </a:solidFill>
                <a:latin typeface="+mj-lt"/>
              </a:rPr>
              <a:t>for the request in investment account?</a:t>
            </a:r>
          </a:p>
        </p:txBody>
      </p:sp>
      <p:cxnSp>
        <p:nvCxnSpPr>
          <p:cNvPr id="37" name="Connector: Elbow 36">
            <a:extLst>
              <a:ext uri="{FF2B5EF4-FFF2-40B4-BE49-F238E27FC236}">
                <a16:creationId xmlns:a16="http://schemas.microsoft.com/office/drawing/2014/main" id="{537E468E-17B2-0D56-3135-2434643D41DE}"/>
              </a:ext>
            </a:extLst>
          </p:cNvPr>
          <p:cNvCxnSpPr>
            <a:stCxn id="24" idx="3"/>
            <a:endCxn id="26" idx="0"/>
          </p:cNvCxnSpPr>
          <p:nvPr/>
        </p:nvCxnSpPr>
        <p:spPr>
          <a:xfrm>
            <a:off x="3684749" y="2686002"/>
            <a:ext cx="700416" cy="600132"/>
          </a:xfrm>
          <a:prstGeom prst="bentConnector2">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39" name="Rectangle 38">
            <a:extLst>
              <a:ext uri="{FF2B5EF4-FFF2-40B4-BE49-F238E27FC236}">
                <a16:creationId xmlns:a16="http://schemas.microsoft.com/office/drawing/2014/main" id="{DCE289D2-648A-88E5-11CB-CA71A0A36E1F}"/>
              </a:ext>
            </a:extLst>
          </p:cNvPr>
          <p:cNvSpPr/>
          <p:nvPr/>
        </p:nvSpPr>
        <p:spPr>
          <a:xfrm>
            <a:off x="6031758" y="3286135"/>
            <a:ext cx="1300137" cy="106035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Execute request depending on buy request (market price, limit, trace, etc.)</a:t>
            </a:r>
          </a:p>
        </p:txBody>
      </p:sp>
      <p:cxnSp>
        <p:nvCxnSpPr>
          <p:cNvPr id="44" name="Straight Arrow Connector 43">
            <a:extLst>
              <a:ext uri="{FF2B5EF4-FFF2-40B4-BE49-F238E27FC236}">
                <a16:creationId xmlns:a16="http://schemas.microsoft.com/office/drawing/2014/main" id="{0FF98D3E-45B7-78A4-2BBC-BE12D01F3EDE}"/>
              </a:ext>
            </a:extLst>
          </p:cNvPr>
          <p:cNvCxnSpPr>
            <a:stCxn id="26" idx="3"/>
            <a:endCxn id="39" idx="1"/>
          </p:cNvCxnSpPr>
          <p:nvPr/>
        </p:nvCxnSpPr>
        <p:spPr>
          <a:xfrm>
            <a:off x="5651965" y="3816313"/>
            <a:ext cx="379793" cy="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45" name="Rectangle 44">
            <a:extLst>
              <a:ext uri="{FF2B5EF4-FFF2-40B4-BE49-F238E27FC236}">
                <a16:creationId xmlns:a16="http://schemas.microsoft.com/office/drawing/2014/main" id="{0FB2AE65-55E2-DD2C-2CC3-76B4459914C1}"/>
              </a:ext>
            </a:extLst>
          </p:cNvPr>
          <p:cNvSpPr/>
          <p:nvPr/>
        </p:nvSpPr>
        <p:spPr>
          <a:xfrm>
            <a:off x="5539367" y="3553284"/>
            <a:ext cx="353110" cy="16903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i="1" dirty="0">
                <a:solidFill>
                  <a:schemeClr val="tx1"/>
                </a:solidFill>
                <a:latin typeface="+mj-lt"/>
              </a:rPr>
              <a:t>Yes</a:t>
            </a:r>
          </a:p>
        </p:txBody>
      </p:sp>
      <p:sp>
        <p:nvSpPr>
          <p:cNvPr id="49" name="Oval 48">
            <a:extLst>
              <a:ext uri="{FF2B5EF4-FFF2-40B4-BE49-F238E27FC236}">
                <a16:creationId xmlns:a16="http://schemas.microsoft.com/office/drawing/2014/main" id="{D95F304F-F5DA-0644-38D4-1E7959C72961}"/>
              </a:ext>
            </a:extLst>
          </p:cNvPr>
          <p:cNvSpPr/>
          <p:nvPr/>
        </p:nvSpPr>
        <p:spPr>
          <a:xfrm>
            <a:off x="4166566" y="4481764"/>
            <a:ext cx="435340" cy="28003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i="1" dirty="0">
                <a:solidFill>
                  <a:schemeClr val="bg1"/>
                </a:solidFill>
                <a:latin typeface="+mj-lt"/>
              </a:rPr>
              <a:t>End</a:t>
            </a:r>
          </a:p>
        </p:txBody>
      </p:sp>
      <p:cxnSp>
        <p:nvCxnSpPr>
          <p:cNvPr id="56" name="Straight Arrow Connector 55">
            <a:extLst>
              <a:ext uri="{FF2B5EF4-FFF2-40B4-BE49-F238E27FC236}">
                <a16:creationId xmlns:a16="http://schemas.microsoft.com/office/drawing/2014/main" id="{F42FEB25-D221-207D-0507-6483C8286539}"/>
              </a:ext>
            </a:extLst>
          </p:cNvPr>
          <p:cNvCxnSpPr>
            <a:stCxn id="26" idx="2"/>
            <a:endCxn id="49" idx="0"/>
          </p:cNvCxnSpPr>
          <p:nvPr/>
        </p:nvCxnSpPr>
        <p:spPr>
          <a:xfrm flipH="1">
            <a:off x="4384236" y="4346492"/>
            <a:ext cx="929" cy="135272"/>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57" name="Rectangle 56">
            <a:extLst>
              <a:ext uri="{FF2B5EF4-FFF2-40B4-BE49-F238E27FC236}">
                <a16:creationId xmlns:a16="http://schemas.microsoft.com/office/drawing/2014/main" id="{B4944F28-B999-7931-C3B6-DE0EB14E4364}"/>
              </a:ext>
            </a:extLst>
          </p:cNvPr>
          <p:cNvSpPr/>
          <p:nvPr/>
        </p:nvSpPr>
        <p:spPr>
          <a:xfrm>
            <a:off x="4554597" y="4337828"/>
            <a:ext cx="353110" cy="1299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i="1" dirty="0">
                <a:solidFill>
                  <a:schemeClr val="tx1"/>
                </a:solidFill>
                <a:latin typeface="+mj-lt"/>
              </a:rPr>
              <a:t>No</a:t>
            </a:r>
          </a:p>
        </p:txBody>
      </p:sp>
      <p:sp>
        <p:nvSpPr>
          <p:cNvPr id="60" name="Rectangle 59">
            <a:extLst>
              <a:ext uri="{FF2B5EF4-FFF2-40B4-BE49-F238E27FC236}">
                <a16:creationId xmlns:a16="http://schemas.microsoft.com/office/drawing/2014/main" id="{B1F37BCF-FA8C-1C26-11B9-BAA4F83552A3}"/>
              </a:ext>
            </a:extLst>
          </p:cNvPr>
          <p:cNvSpPr/>
          <p:nvPr/>
        </p:nvSpPr>
        <p:spPr>
          <a:xfrm>
            <a:off x="9237087" y="3286135"/>
            <a:ext cx="1300137" cy="106035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Deposit stock in investor investment account</a:t>
            </a:r>
          </a:p>
        </p:txBody>
      </p:sp>
      <p:sp>
        <p:nvSpPr>
          <p:cNvPr id="72" name="Oval 71">
            <a:extLst>
              <a:ext uri="{FF2B5EF4-FFF2-40B4-BE49-F238E27FC236}">
                <a16:creationId xmlns:a16="http://schemas.microsoft.com/office/drawing/2014/main" id="{377090C4-2F5B-C684-66FC-51673914499F}"/>
              </a:ext>
            </a:extLst>
          </p:cNvPr>
          <p:cNvSpPr/>
          <p:nvPr/>
        </p:nvSpPr>
        <p:spPr>
          <a:xfrm>
            <a:off x="10967365" y="3676297"/>
            <a:ext cx="435340" cy="28003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i="1" dirty="0">
                <a:solidFill>
                  <a:schemeClr val="bg1"/>
                </a:solidFill>
                <a:latin typeface="+mj-lt"/>
              </a:rPr>
              <a:t>End</a:t>
            </a:r>
          </a:p>
        </p:txBody>
      </p:sp>
      <p:cxnSp>
        <p:nvCxnSpPr>
          <p:cNvPr id="73" name="Straight Arrow Connector 72">
            <a:extLst>
              <a:ext uri="{FF2B5EF4-FFF2-40B4-BE49-F238E27FC236}">
                <a16:creationId xmlns:a16="http://schemas.microsoft.com/office/drawing/2014/main" id="{C9346F15-CAD9-A364-1227-8F29B25D4E6D}"/>
              </a:ext>
            </a:extLst>
          </p:cNvPr>
          <p:cNvCxnSpPr>
            <a:cxnSpLocks/>
            <a:stCxn id="60" idx="3"/>
            <a:endCxn id="72" idx="2"/>
          </p:cNvCxnSpPr>
          <p:nvPr/>
        </p:nvCxnSpPr>
        <p:spPr>
          <a:xfrm>
            <a:off x="10537224" y="3816313"/>
            <a:ext cx="430141" cy="1"/>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77" name="Rectangle 76">
            <a:extLst>
              <a:ext uri="{FF2B5EF4-FFF2-40B4-BE49-F238E27FC236}">
                <a16:creationId xmlns:a16="http://schemas.microsoft.com/office/drawing/2014/main" id="{EE24D41E-D4E8-1A13-75AE-A1845784B117}"/>
              </a:ext>
            </a:extLst>
          </p:cNvPr>
          <p:cNvSpPr/>
          <p:nvPr/>
        </p:nvSpPr>
        <p:spPr>
          <a:xfrm>
            <a:off x="609600" y="4761797"/>
            <a:ext cx="1606378" cy="1410402"/>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mj-lt"/>
              </a:rPr>
              <a:t>Exchange</a:t>
            </a:r>
          </a:p>
        </p:txBody>
      </p:sp>
      <p:sp>
        <p:nvSpPr>
          <p:cNvPr id="81" name="Rectangle 80">
            <a:extLst>
              <a:ext uri="{FF2B5EF4-FFF2-40B4-BE49-F238E27FC236}">
                <a16:creationId xmlns:a16="http://schemas.microsoft.com/office/drawing/2014/main" id="{74EDB54C-BCBF-36C2-5274-80EB0874B797}"/>
              </a:ext>
            </a:extLst>
          </p:cNvPr>
          <p:cNvSpPr/>
          <p:nvPr/>
        </p:nvSpPr>
        <p:spPr>
          <a:xfrm>
            <a:off x="6031758" y="4857396"/>
            <a:ext cx="1300137" cy="106035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Matched buy order with sell order</a:t>
            </a:r>
          </a:p>
        </p:txBody>
      </p:sp>
      <p:sp>
        <p:nvSpPr>
          <p:cNvPr id="82" name="Rectangle 81">
            <a:extLst>
              <a:ext uri="{FF2B5EF4-FFF2-40B4-BE49-F238E27FC236}">
                <a16:creationId xmlns:a16="http://schemas.microsoft.com/office/drawing/2014/main" id="{84FEB2A2-7BB1-0E3E-5A6D-48864697B35F}"/>
              </a:ext>
            </a:extLst>
          </p:cNvPr>
          <p:cNvSpPr/>
          <p:nvPr/>
        </p:nvSpPr>
        <p:spPr>
          <a:xfrm>
            <a:off x="7718482" y="4857396"/>
            <a:ext cx="1300137" cy="106035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Confirm execution</a:t>
            </a:r>
          </a:p>
        </p:txBody>
      </p:sp>
      <p:cxnSp>
        <p:nvCxnSpPr>
          <p:cNvPr id="85" name="Straight Arrow Connector 84">
            <a:extLst>
              <a:ext uri="{FF2B5EF4-FFF2-40B4-BE49-F238E27FC236}">
                <a16:creationId xmlns:a16="http://schemas.microsoft.com/office/drawing/2014/main" id="{93684E2C-C2A8-F8E9-0A5E-A9BD84A498ED}"/>
              </a:ext>
            </a:extLst>
          </p:cNvPr>
          <p:cNvCxnSpPr>
            <a:cxnSpLocks/>
            <a:stCxn id="39" idx="2"/>
            <a:endCxn id="81" idx="0"/>
          </p:cNvCxnSpPr>
          <p:nvPr/>
        </p:nvCxnSpPr>
        <p:spPr>
          <a:xfrm>
            <a:off x="6681827" y="4346492"/>
            <a:ext cx="0" cy="510904"/>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88" name="Rectangle 87">
            <a:extLst>
              <a:ext uri="{FF2B5EF4-FFF2-40B4-BE49-F238E27FC236}">
                <a16:creationId xmlns:a16="http://schemas.microsoft.com/office/drawing/2014/main" id="{630DAB6A-6CDF-C467-B05E-30DF2FA98DE0}"/>
              </a:ext>
            </a:extLst>
          </p:cNvPr>
          <p:cNvSpPr/>
          <p:nvPr/>
        </p:nvSpPr>
        <p:spPr>
          <a:xfrm>
            <a:off x="7711688" y="3286135"/>
            <a:ext cx="1300137" cy="106035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Settlement of cash for stock bought</a:t>
            </a:r>
            <a:r>
              <a:rPr lang="en-US" sz="1200" baseline="30000" dirty="0">
                <a:solidFill>
                  <a:schemeClr val="tx1"/>
                </a:solidFill>
                <a:latin typeface="+mj-lt"/>
              </a:rPr>
              <a:t>2</a:t>
            </a:r>
            <a:endParaRPr lang="en-US" sz="1200" dirty="0">
              <a:solidFill>
                <a:schemeClr val="tx1"/>
              </a:solidFill>
              <a:latin typeface="+mj-lt"/>
            </a:endParaRPr>
          </a:p>
        </p:txBody>
      </p:sp>
      <p:cxnSp>
        <p:nvCxnSpPr>
          <p:cNvPr id="89" name="Straight Arrow Connector 88">
            <a:extLst>
              <a:ext uri="{FF2B5EF4-FFF2-40B4-BE49-F238E27FC236}">
                <a16:creationId xmlns:a16="http://schemas.microsoft.com/office/drawing/2014/main" id="{815A36FF-FD0C-86BD-9C69-E3C64DD96DD9}"/>
              </a:ext>
            </a:extLst>
          </p:cNvPr>
          <p:cNvCxnSpPr>
            <a:cxnSpLocks/>
            <a:stCxn id="81" idx="3"/>
            <a:endCxn id="82" idx="1"/>
          </p:cNvCxnSpPr>
          <p:nvPr/>
        </p:nvCxnSpPr>
        <p:spPr>
          <a:xfrm>
            <a:off x="7331895" y="5387574"/>
            <a:ext cx="386587" cy="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2E111741-72D3-7644-6721-5A28717101E0}"/>
              </a:ext>
            </a:extLst>
          </p:cNvPr>
          <p:cNvCxnSpPr>
            <a:cxnSpLocks/>
            <a:stCxn id="82" idx="0"/>
            <a:endCxn id="88" idx="2"/>
          </p:cNvCxnSpPr>
          <p:nvPr/>
        </p:nvCxnSpPr>
        <p:spPr>
          <a:xfrm flipH="1" flipV="1">
            <a:off x="8361757" y="4346492"/>
            <a:ext cx="6794" cy="510904"/>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98" name="Straight Arrow Connector 97">
            <a:extLst>
              <a:ext uri="{FF2B5EF4-FFF2-40B4-BE49-F238E27FC236}">
                <a16:creationId xmlns:a16="http://schemas.microsoft.com/office/drawing/2014/main" id="{E81222E5-AEAC-34A3-7555-F87441DF8085}"/>
              </a:ext>
            </a:extLst>
          </p:cNvPr>
          <p:cNvCxnSpPr>
            <a:cxnSpLocks/>
            <a:stCxn id="88" idx="3"/>
            <a:endCxn id="60" idx="1"/>
          </p:cNvCxnSpPr>
          <p:nvPr/>
        </p:nvCxnSpPr>
        <p:spPr>
          <a:xfrm>
            <a:off x="9011825" y="3816313"/>
            <a:ext cx="225262" cy="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15" name="Speech Bubble: Rectangle 114">
            <a:extLst>
              <a:ext uri="{FF2B5EF4-FFF2-40B4-BE49-F238E27FC236}">
                <a16:creationId xmlns:a16="http://schemas.microsoft.com/office/drawing/2014/main" id="{EEBEDF94-6E30-9FC8-8097-52113B5607C8}"/>
              </a:ext>
            </a:extLst>
          </p:cNvPr>
          <p:cNvSpPr/>
          <p:nvPr/>
        </p:nvSpPr>
        <p:spPr>
          <a:xfrm>
            <a:off x="2497623" y="5103961"/>
            <a:ext cx="3114355" cy="825616"/>
          </a:xfrm>
          <a:prstGeom prst="wedgeRectCallout">
            <a:avLst>
              <a:gd name="adj1" fmla="val 13051"/>
              <a:gd name="adj2" fmla="val -96089"/>
            </a:avLst>
          </a:prstGeom>
          <a:solidFill>
            <a:srgbClr val="BE90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i="1" dirty="0" err="1">
                <a:solidFill>
                  <a:schemeClr val="bg1"/>
                </a:solidFill>
                <a:latin typeface="+mj-lt"/>
              </a:rPr>
              <a:t>Xlta</a:t>
            </a:r>
            <a:r>
              <a:rPr lang="en-US" sz="1600" b="1" i="1" dirty="0">
                <a:solidFill>
                  <a:schemeClr val="bg1"/>
                </a:solidFill>
                <a:latin typeface="+mj-lt"/>
              </a:rPr>
              <a:t> will give investors the option of getting funds to continue the process</a:t>
            </a:r>
          </a:p>
        </p:txBody>
      </p:sp>
      <p:sp>
        <p:nvSpPr>
          <p:cNvPr id="116" name="Arrow: Right 115">
            <a:extLst>
              <a:ext uri="{FF2B5EF4-FFF2-40B4-BE49-F238E27FC236}">
                <a16:creationId xmlns:a16="http://schemas.microsoft.com/office/drawing/2014/main" id="{0A5924E5-F448-0AEA-1B63-869CFC8BD1ED}"/>
              </a:ext>
            </a:extLst>
          </p:cNvPr>
          <p:cNvSpPr/>
          <p:nvPr/>
        </p:nvSpPr>
        <p:spPr>
          <a:xfrm rot="1987268">
            <a:off x="1780617" y="1648797"/>
            <a:ext cx="825689" cy="754843"/>
          </a:xfrm>
          <a:prstGeom prst="rightArrow">
            <a:avLst/>
          </a:prstGeom>
          <a:solidFill>
            <a:srgbClr val="BE90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i="1" dirty="0">
                <a:solidFill>
                  <a:schemeClr val="bg1"/>
                </a:solidFill>
                <a:latin typeface="+mj-lt"/>
              </a:rPr>
              <a:t>Starting Point</a:t>
            </a:r>
          </a:p>
        </p:txBody>
      </p:sp>
      <p:grpSp>
        <p:nvGrpSpPr>
          <p:cNvPr id="130" name="Group 129">
            <a:extLst>
              <a:ext uri="{FF2B5EF4-FFF2-40B4-BE49-F238E27FC236}">
                <a16:creationId xmlns:a16="http://schemas.microsoft.com/office/drawing/2014/main" id="{7A3419B0-936E-4C02-C9C9-1D952065AE46}"/>
              </a:ext>
            </a:extLst>
          </p:cNvPr>
          <p:cNvGrpSpPr/>
          <p:nvPr/>
        </p:nvGrpSpPr>
        <p:grpSpPr>
          <a:xfrm>
            <a:off x="10550531" y="1972943"/>
            <a:ext cx="1031869" cy="365761"/>
            <a:chOff x="10550531" y="1972943"/>
            <a:chExt cx="1031869" cy="365761"/>
          </a:xfrm>
        </p:grpSpPr>
        <p:sp>
          <p:nvSpPr>
            <p:cNvPr id="118" name="Rectangle 117">
              <a:extLst>
                <a:ext uri="{FF2B5EF4-FFF2-40B4-BE49-F238E27FC236}">
                  <a16:creationId xmlns:a16="http://schemas.microsoft.com/office/drawing/2014/main" id="{8C65F945-C87F-9F17-CF8F-7A4343DE6161}"/>
                </a:ext>
              </a:extLst>
            </p:cNvPr>
            <p:cNvSpPr/>
            <p:nvPr/>
          </p:nvSpPr>
          <p:spPr>
            <a:xfrm>
              <a:off x="11152259" y="1972943"/>
              <a:ext cx="430141" cy="36576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b="1" i="1" dirty="0">
                <a:solidFill>
                  <a:schemeClr val="tx1"/>
                </a:solidFill>
                <a:latin typeface="+mj-lt"/>
              </a:endParaRPr>
            </a:p>
          </p:txBody>
        </p:sp>
        <p:sp>
          <p:nvSpPr>
            <p:cNvPr id="119" name="Rectangle 118">
              <a:extLst>
                <a:ext uri="{FF2B5EF4-FFF2-40B4-BE49-F238E27FC236}">
                  <a16:creationId xmlns:a16="http://schemas.microsoft.com/office/drawing/2014/main" id="{8537A056-BC84-D8B8-5339-98636BE0CA58}"/>
                </a:ext>
              </a:extLst>
            </p:cNvPr>
            <p:cNvSpPr/>
            <p:nvPr/>
          </p:nvSpPr>
          <p:spPr>
            <a:xfrm>
              <a:off x="10550531" y="1972943"/>
              <a:ext cx="543338" cy="3657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a:r>
                <a:rPr lang="en-US" sz="900" b="1" i="1" dirty="0">
                  <a:solidFill>
                    <a:schemeClr val="tx1"/>
                  </a:solidFill>
                  <a:latin typeface="+mj-lt"/>
                </a:rPr>
                <a:t>Action</a:t>
              </a:r>
            </a:p>
          </p:txBody>
        </p:sp>
      </p:grpSp>
      <p:grpSp>
        <p:nvGrpSpPr>
          <p:cNvPr id="129" name="Group 128">
            <a:extLst>
              <a:ext uri="{FF2B5EF4-FFF2-40B4-BE49-F238E27FC236}">
                <a16:creationId xmlns:a16="http://schemas.microsoft.com/office/drawing/2014/main" id="{4DA13A34-A8AE-C4EE-BE99-EAC2F20DA35F}"/>
              </a:ext>
            </a:extLst>
          </p:cNvPr>
          <p:cNvGrpSpPr/>
          <p:nvPr/>
        </p:nvGrpSpPr>
        <p:grpSpPr>
          <a:xfrm>
            <a:off x="9327778" y="1972943"/>
            <a:ext cx="1212773" cy="365761"/>
            <a:chOff x="9324451" y="1972943"/>
            <a:chExt cx="1212773" cy="365761"/>
          </a:xfrm>
        </p:grpSpPr>
        <p:sp>
          <p:nvSpPr>
            <p:cNvPr id="123" name="Diamond 122">
              <a:extLst>
                <a:ext uri="{FF2B5EF4-FFF2-40B4-BE49-F238E27FC236}">
                  <a16:creationId xmlns:a16="http://schemas.microsoft.com/office/drawing/2014/main" id="{CF62E6A2-4535-26A3-30A4-1ACBE235D487}"/>
                </a:ext>
              </a:extLst>
            </p:cNvPr>
            <p:cNvSpPr/>
            <p:nvPr/>
          </p:nvSpPr>
          <p:spPr>
            <a:xfrm>
              <a:off x="9896984" y="2026218"/>
              <a:ext cx="640240" cy="267952"/>
            </a:xfrm>
            <a:prstGeom prst="diamond">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b="1" i="1" dirty="0">
                <a:solidFill>
                  <a:schemeClr val="tx1"/>
                </a:solidFill>
                <a:latin typeface="+mj-lt"/>
              </a:endParaRPr>
            </a:p>
          </p:txBody>
        </p:sp>
        <p:sp>
          <p:nvSpPr>
            <p:cNvPr id="125" name="Rectangle 124">
              <a:extLst>
                <a:ext uri="{FF2B5EF4-FFF2-40B4-BE49-F238E27FC236}">
                  <a16:creationId xmlns:a16="http://schemas.microsoft.com/office/drawing/2014/main" id="{6DBD0215-B3A2-7078-C231-7DF7AC9CB50A}"/>
                </a:ext>
              </a:extLst>
            </p:cNvPr>
            <p:cNvSpPr/>
            <p:nvPr/>
          </p:nvSpPr>
          <p:spPr>
            <a:xfrm>
              <a:off x="9324451" y="1972943"/>
              <a:ext cx="543338" cy="3657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a:r>
                <a:rPr lang="en-US" sz="900" b="1" i="1" dirty="0">
                  <a:solidFill>
                    <a:schemeClr val="tx1"/>
                  </a:solidFill>
                  <a:latin typeface="+mj-lt"/>
                </a:rPr>
                <a:t>Decision</a:t>
              </a:r>
            </a:p>
          </p:txBody>
        </p:sp>
      </p:grpSp>
      <p:sp>
        <p:nvSpPr>
          <p:cNvPr id="126" name="Speech Bubble: Rectangle 125">
            <a:extLst>
              <a:ext uri="{FF2B5EF4-FFF2-40B4-BE49-F238E27FC236}">
                <a16:creationId xmlns:a16="http://schemas.microsoft.com/office/drawing/2014/main" id="{31FF812B-405C-8C14-909E-0CB833D985A8}"/>
              </a:ext>
            </a:extLst>
          </p:cNvPr>
          <p:cNvSpPr/>
          <p:nvPr/>
        </p:nvSpPr>
        <p:spPr>
          <a:xfrm>
            <a:off x="8768076" y="2099322"/>
            <a:ext cx="549721" cy="145731"/>
          </a:xfrm>
          <a:prstGeom prst="wedgeRectCallout">
            <a:avLst>
              <a:gd name="adj1" fmla="val 13051"/>
              <a:gd name="adj2" fmla="val -96089"/>
            </a:avLst>
          </a:prstGeom>
          <a:solidFill>
            <a:srgbClr val="BE90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i="1" dirty="0">
              <a:solidFill>
                <a:schemeClr val="bg1"/>
              </a:solidFill>
              <a:latin typeface="+mj-lt"/>
            </a:endParaRPr>
          </a:p>
        </p:txBody>
      </p:sp>
      <p:sp>
        <p:nvSpPr>
          <p:cNvPr id="127" name="Rectangle 126">
            <a:extLst>
              <a:ext uri="{FF2B5EF4-FFF2-40B4-BE49-F238E27FC236}">
                <a16:creationId xmlns:a16="http://schemas.microsoft.com/office/drawing/2014/main" id="{F329CC50-7684-06A3-52DE-783199D37D81}"/>
              </a:ext>
            </a:extLst>
          </p:cNvPr>
          <p:cNvSpPr/>
          <p:nvPr/>
        </p:nvSpPr>
        <p:spPr>
          <a:xfrm>
            <a:off x="8210141" y="1972943"/>
            <a:ext cx="543338" cy="3657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a:r>
              <a:rPr lang="en-US" sz="900" b="1" i="1" dirty="0">
                <a:solidFill>
                  <a:schemeClr val="tx1"/>
                </a:solidFill>
                <a:latin typeface="+mj-lt"/>
              </a:rPr>
              <a:t>Comment</a:t>
            </a:r>
          </a:p>
        </p:txBody>
      </p:sp>
      <p:sp>
        <p:nvSpPr>
          <p:cNvPr id="132" name="Oval 131">
            <a:extLst>
              <a:ext uri="{FF2B5EF4-FFF2-40B4-BE49-F238E27FC236}">
                <a16:creationId xmlns:a16="http://schemas.microsoft.com/office/drawing/2014/main" id="{3706A118-30FB-717C-9B09-69908336DE1D}"/>
              </a:ext>
            </a:extLst>
          </p:cNvPr>
          <p:cNvSpPr/>
          <p:nvPr/>
        </p:nvSpPr>
        <p:spPr>
          <a:xfrm>
            <a:off x="7760204" y="2016760"/>
            <a:ext cx="435340" cy="28003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200" b="1" i="1" dirty="0">
              <a:solidFill>
                <a:schemeClr val="bg1"/>
              </a:solidFill>
              <a:latin typeface="+mj-lt"/>
            </a:endParaRPr>
          </a:p>
        </p:txBody>
      </p:sp>
      <p:sp>
        <p:nvSpPr>
          <p:cNvPr id="136" name="Rectangle 135">
            <a:extLst>
              <a:ext uri="{FF2B5EF4-FFF2-40B4-BE49-F238E27FC236}">
                <a16:creationId xmlns:a16="http://schemas.microsoft.com/office/drawing/2014/main" id="{02818284-A093-9766-F1C2-831023CE4F1A}"/>
              </a:ext>
            </a:extLst>
          </p:cNvPr>
          <p:cNvSpPr/>
          <p:nvPr/>
        </p:nvSpPr>
        <p:spPr>
          <a:xfrm>
            <a:off x="7137327" y="1972943"/>
            <a:ext cx="543338" cy="3657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a:r>
              <a:rPr lang="en-US" sz="900" b="1" i="1" dirty="0">
                <a:solidFill>
                  <a:schemeClr val="tx1"/>
                </a:solidFill>
                <a:latin typeface="+mj-lt"/>
              </a:rPr>
              <a:t>End</a:t>
            </a:r>
          </a:p>
        </p:txBody>
      </p:sp>
    </p:spTree>
    <p:extLst>
      <p:ext uri="{BB962C8B-B14F-4D97-AF65-F5344CB8AC3E}">
        <p14:creationId xmlns:p14="http://schemas.microsoft.com/office/powerpoint/2010/main" val="3099685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5F69C-C9C8-46A9-4D69-66BCB2579104}"/>
              </a:ext>
            </a:extLst>
          </p:cNvPr>
          <p:cNvSpPr>
            <a:spLocks noGrp="1"/>
          </p:cNvSpPr>
          <p:nvPr>
            <p:ph type="title"/>
          </p:nvPr>
        </p:nvSpPr>
        <p:spPr/>
        <p:txBody>
          <a:bodyPr/>
          <a:lstStyle/>
          <a:p>
            <a:r>
              <a:rPr lang="en-US" dirty="0"/>
              <a:t>We will provide investors with the option to get instant funds to ensure seizing the opportunity and simplifying the process of acquiring funds</a:t>
            </a:r>
          </a:p>
        </p:txBody>
      </p:sp>
      <p:sp>
        <p:nvSpPr>
          <p:cNvPr id="4" name="Text Placeholder 3">
            <a:extLst>
              <a:ext uri="{FF2B5EF4-FFF2-40B4-BE49-F238E27FC236}">
                <a16:creationId xmlns:a16="http://schemas.microsoft.com/office/drawing/2014/main" id="{70ECAC20-38A3-9E2E-FE8D-67D63D023B02}"/>
              </a:ext>
            </a:extLst>
          </p:cNvPr>
          <p:cNvSpPr>
            <a:spLocks noGrp="1"/>
          </p:cNvSpPr>
          <p:nvPr>
            <p:ph type="body" sz="quarter" idx="13"/>
          </p:nvPr>
        </p:nvSpPr>
        <p:spPr/>
        <p:txBody>
          <a:bodyPr/>
          <a:lstStyle/>
          <a:p>
            <a:r>
              <a:rPr lang="en-US" dirty="0"/>
              <a:t>Notes: 1. All </a:t>
            </a:r>
            <a:r>
              <a:rPr lang="en-US" dirty="0" err="1"/>
              <a:t>Xlta</a:t>
            </a:r>
            <a:r>
              <a:rPr lang="en-US" dirty="0"/>
              <a:t> loans must be paid over 4 installments within a year</a:t>
            </a:r>
          </a:p>
          <a:p>
            <a:r>
              <a:rPr lang="en-US" dirty="0"/>
              <a:t>Source: </a:t>
            </a:r>
            <a:r>
              <a:rPr lang="en-US" dirty="0" err="1"/>
              <a:t>Xlta</a:t>
            </a:r>
            <a:r>
              <a:rPr lang="en-US" dirty="0"/>
              <a:t> analysis, NYU V-Lab</a:t>
            </a:r>
          </a:p>
        </p:txBody>
      </p:sp>
      <p:sp>
        <p:nvSpPr>
          <p:cNvPr id="5" name="Content Placeholder 4">
            <a:extLst>
              <a:ext uri="{FF2B5EF4-FFF2-40B4-BE49-F238E27FC236}">
                <a16:creationId xmlns:a16="http://schemas.microsoft.com/office/drawing/2014/main" id="{CA8FE127-8468-80CD-7162-0826BED20AD0}"/>
              </a:ext>
            </a:extLst>
          </p:cNvPr>
          <p:cNvSpPr>
            <a:spLocks noGrp="1"/>
          </p:cNvSpPr>
          <p:nvPr>
            <p:ph sz="quarter" idx="14"/>
          </p:nvPr>
        </p:nvSpPr>
        <p:spPr/>
        <p:txBody>
          <a:bodyPr/>
          <a:lstStyle/>
          <a:p>
            <a:r>
              <a:rPr lang="en-US" dirty="0"/>
              <a:t>Business Case</a:t>
            </a:r>
          </a:p>
        </p:txBody>
      </p:sp>
      <p:sp>
        <p:nvSpPr>
          <p:cNvPr id="6" name="Rectangle 5">
            <a:extLst>
              <a:ext uri="{FF2B5EF4-FFF2-40B4-BE49-F238E27FC236}">
                <a16:creationId xmlns:a16="http://schemas.microsoft.com/office/drawing/2014/main" id="{F17E7A43-9B92-7D27-4C7A-82F27230819E}"/>
              </a:ext>
            </a:extLst>
          </p:cNvPr>
          <p:cNvSpPr/>
          <p:nvPr/>
        </p:nvSpPr>
        <p:spPr>
          <a:xfrm>
            <a:off x="609600" y="1492250"/>
            <a:ext cx="10972800" cy="36576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mj-lt"/>
              </a:rPr>
              <a:t>The Options Investors Have When They Lack Funds</a:t>
            </a:r>
          </a:p>
        </p:txBody>
      </p:sp>
      <p:cxnSp>
        <p:nvCxnSpPr>
          <p:cNvPr id="7" name="Straight Connector 6">
            <a:extLst>
              <a:ext uri="{FF2B5EF4-FFF2-40B4-BE49-F238E27FC236}">
                <a16:creationId xmlns:a16="http://schemas.microsoft.com/office/drawing/2014/main" id="{A56978EF-DD13-0999-B918-B34B1940EB24}"/>
              </a:ext>
            </a:extLst>
          </p:cNvPr>
          <p:cNvCxnSpPr>
            <a:cxnSpLocks/>
          </p:cNvCxnSpPr>
          <p:nvPr/>
        </p:nvCxnSpPr>
        <p:spPr>
          <a:xfrm>
            <a:off x="609600" y="1858010"/>
            <a:ext cx="10972800" cy="0"/>
          </a:xfrm>
          <a:prstGeom prst="line">
            <a:avLst/>
          </a:prstGeom>
          <a:ln>
            <a:solidFill>
              <a:schemeClr val="tx1"/>
            </a:solidFill>
            <a:headEnd type="diamond"/>
            <a:tailEnd type="diamond"/>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9E57471E-9580-B247-DAE7-9341BFD58390}"/>
              </a:ext>
            </a:extLst>
          </p:cNvPr>
          <p:cNvSpPr/>
          <p:nvPr/>
        </p:nvSpPr>
        <p:spPr>
          <a:xfrm>
            <a:off x="609599" y="2121375"/>
            <a:ext cx="3447655" cy="130762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bg1"/>
                </a:solidFill>
                <a:latin typeface="+mj-lt"/>
              </a:rPr>
              <a:t>Wait to have funds available</a:t>
            </a:r>
          </a:p>
        </p:txBody>
      </p:sp>
      <p:sp>
        <p:nvSpPr>
          <p:cNvPr id="9" name="Rectangle 8">
            <a:extLst>
              <a:ext uri="{FF2B5EF4-FFF2-40B4-BE49-F238E27FC236}">
                <a16:creationId xmlns:a16="http://schemas.microsoft.com/office/drawing/2014/main" id="{C2129BB3-9447-EF33-AF68-FFE3DA543304}"/>
              </a:ext>
            </a:extLst>
          </p:cNvPr>
          <p:cNvSpPr/>
          <p:nvPr/>
        </p:nvSpPr>
        <p:spPr>
          <a:xfrm>
            <a:off x="4372171" y="2121375"/>
            <a:ext cx="3447655" cy="130762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bg1"/>
                </a:solidFill>
                <a:latin typeface="+mj-lt"/>
              </a:rPr>
              <a:t>Get a personal loan from bank</a:t>
            </a:r>
          </a:p>
        </p:txBody>
      </p:sp>
      <p:sp>
        <p:nvSpPr>
          <p:cNvPr id="10" name="Rectangle 9">
            <a:extLst>
              <a:ext uri="{FF2B5EF4-FFF2-40B4-BE49-F238E27FC236}">
                <a16:creationId xmlns:a16="http://schemas.microsoft.com/office/drawing/2014/main" id="{B70AD025-7991-61F4-2873-F82937A3ED0E}"/>
              </a:ext>
            </a:extLst>
          </p:cNvPr>
          <p:cNvSpPr/>
          <p:nvPr/>
        </p:nvSpPr>
        <p:spPr>
          <a:xfrm>
            <a:off x="8134744" y="2121375"/>
            <a:ext cx="3447655" cy="1307623"/>
          </a:xfrm>
          <a:prstGeom prst="rect">
            <a:avLst/>
          </a:prstGeom>
          <a:solidFill>
            <a:srgbClr val="BE90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bg1"/>
                </a:solidFill>
                <a:latin typeface="+mj-lt"/>
              </a:rPr>
              <a:t>Get a loan through </a:t>
            </a:r>
            <a:r>
              <a:rPr lang="en-US" sz="1400" b="1" dirty="0" err="1">
                <a:solidFill>
                  <a:schemeClr val="bg1"/>
                </a:solidFill>
                <a:latin typeface="+mj-lt"/>
              </a:rPr>
              <a:t>Xlta</a:t>
            </a:r>
            <a:endParaRPr lang="en-US" sz="1400" b="1" dirty="0">
              <a:solidFill>
                <a:schemeClr val="bg1"/>
              </a:solidFill>
              <a:latin typeface="+mj-lt"/>
            </a:endParaRPr>
          </a:p>
        </p:txBody>
      </p:sp>
      <p:sp>
        <p:nvSpPr>
          <p:cNvPr id="12" name="Rectangle 11">
            <a:extLst>
              <a:ext uri="{FF2B5EF4-FFF2-40B4-BE49-F238E27FC236}">
                <a16:creationId xmlns:a16="http://schemas.microsoft.com/office/drawing/2014/main" id="{390EF79A-BA58-F30D-33C9-2D8753210D46}"/>
              </a:ext>
            </a:extLst>
          </p:cNvPr>
          <p:cNvSpPr/>
          <p:nvPr/>
        </p:nvSpPr>
        <p:spPr>
          <a:xfrm>
            <a:off x="609599" y="3495357"/>
            <a:ext cx="3447655" cy="1307623"/>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i="1" dirty="0">
                <a:solidFill>
                  <a:schemeClr val="tx1"/>
                </a:solidFill>
                <a:latin typeface="+mj-lt"/>
              </a:rPr>
              <a:t>Investors have the option to wait for funds to be available depending on how they usually make recurrent income.</a:t>
            </a:r>
          </a:p>
        </p:txBody>
      </p:sp>
      <p:sp>
        <p:nvSpPr>
          <p:cNvPr id="13" name="Rectangle 12">
            <a:extLst>
              <a:ext uri="{FF2B5EF4-FFF2-40B4-BE49-F238E27FC236}">
                <a16:creationId xmlns:a16="http://schemas.microsoft.com/office/drawing/2014/main" id="{19DE2C64-8BA2-6898-FE2F-5A7EFAA8E190}"/>
              </a:ext>
            </a:extLst>
          </p:cNvPr>
          <p:cNvSpPr/>
          <p:nvPr/>
        </p:nvSpPr>
        <p:spPr>
          <a:xfrm>
            <a:off x="4372171" y="3495357"/>
            <a:ext cx="3447655" cy="1307623"/>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i="1" dirty="0">
                <a:solidFill>
                  <a:schemeClr val="tx1"/>
                </a:solidFill>
                <a:latin typeface="+mj-lt"/>
              </a:rPr>
              <a:t>Investors could contact their bank of choice to get personal loan to fund their investment</a:t>
            </a:r>
          </a:p>
        </p:txBody>
      </p:sp>
      <p:sp>
        <p:nvSpPr>
          <p:cNvPr id="14" name="Rectangle 13">
            <a:extLst>
              <a:ext uri="{FF2B5EF4-FFF2-40B4-BE49-F238E27FC236}">
                <a16:creationId xmlns:a16="http://schemas.microsoft.com/office/drawing/2014/main" id="{3E5BACB2-E086-85EB-7220-EF7F87336CB9}"/>
              </a:ext>
            </a:extLst>
          </p:cNvPr>
          <p:cNvSpPr/>
          <p:nvPr/>
        </p:nvSpPr>
        <p:spPr>
          <a:xfrm>
            <a:off x="8134744" y="3495357"/>
            <a:ext cx="3447655" cy="13076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i="1" dirty="0">
                <a:solidFill>
                  <a:schemeClr val="tx1"/>
                </a:solidFill>
                <a:latin typeface="+mj-lt"/>
              </a:rPr>
              <a:t>Investor could leverage </a:t>
            </a:r>
            <a:r>
              <a:rPr lang="en-US" sz="1200" b="1" i="1" dirty="0" err="1">
                <a:solidFill>
                  <a:schemeClr val="tx1"/>
                </a:solidFill>
                <a:latin typeface="+mj-lt"/>
              </a:rPr>
              <a:t>Xlta</a:t>
            </a:r>
            <a:r>
              <a:rPr lang="en-US" sz="1200" b="1" i="1" dirty="0">
                <a:solidFill>
                  <a:schemeClr val="tx1"/>
                </a:solidFill>
                <a:latin typeface="+mj-lt"/>
              </a:rPr>
              <a:t> service to receive an instant and discounted loan</a:t>
            </a:r>
          </a:p>
        </p:txBody>
      </p:sp>
      <p:sp>
        <p:nvSpPr>
          <p:cNvPr id="15" name="Rectangle 14">
            <a:extLst>
              <a:ext uri="{FF2B5EF4-FFF2-40B4-BE49-F238E27FC236}">
                <a16:creationId xmlns:a16="http://schemas.microsoft.com/office/drawing/2014/main" id="{351C248A-DBCB-0149-20FA-F29BE17FAE38}"/>
              </a:ext>
            </a:extLst>
          </p:cNvPr>
          <p:cNvSpPr/>
          <p:nvPr/>
        </p:nvSpPr>
        <p:spPr>
          <a:xfrm>
            <a:off x="609599" y="5179325"/>
            <a:ext cx="3447655" cy="99763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ꟷ"/>
            </a:pPr>
            <a:r>
              <a:rPr lang="en-US" sz="1200" dirty="0">
                <a:solidFill>
                  <a:schemeClr val="tx1"/>
                </a:solidFill>
                <a:latin typeface="+mj-lt"/>
              </a:rPr>
              <a:t>At a average weekly volatility of 12+%, investors are bound to </a:t>
            </a:r>
            <a:r>
              <a:rPr lang="en-US" sz="1200" b="1" dirty="0">
                <a:solidFill>
                  <a:schemeClr val="tx1"/>
                </a:solidFill>
                <a:latin typeface="+mj-lt"/>
              </a:rPr>
              <a:t>lose great opportunities in the market</a:t>
            </a:r>
          </a:p>
        </p:txBody>
      </p:sp>
      <p:sp>
        <p:nvSpPr>
          <p:cNvPr id="16" name="Rectangle 15">
            <a:extLst>
              <a:ext uri="{FF2B5EF4-FFF2-40B4-BE49-F238E27FC236}">
                <a16:creationId xmlns:a16="http://schemas.microsoft.com/office/drawing/2014/main" id="{463CF193-7230-5B30-7B6D-E63CBF1D850F}"/>
              </a:ext>
            </a:extLst>
          </p:cNvPr>
          <p:cNvSpPr/>
          <p:nvPr/>
        </p:nvSpPr>
        <p:spPr>
          <a:xfrm>
            <a:off x="4372171" y="5179325"/>
            <a:ext cx="3447655" cy="99763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ꟷ"/>
            </a:pPr>
            <a:r>
              <a:rPr lang="en-US" sz="1200" dirty="0">
                <a:solidFill>
                  <a:schemeClr val="tx1"/>
                </a:solidFill>
                <a:latin typeface="+mj-lt"/>
              </a:rPr>
              <a:t>To get a personal loan, i</a:t>
            </a:r>
            <a:r>
              <a:rPr lang="en-US" sz="1200" b="1" dirty="0">
                <a:solidFill>
                  <a:schemeClr val="tx1"/>
                </a:solidFill>
                <a:latin typeface="+mj-lt"/>
              </a:rPr>
              <a:t>nvestors need 24 hours to couple of days for the paperwork</a:t>
            </a:r>
          </a:p>
          <a:p>
            <a:pPr marL="171450" indent="-171450">
              <a:buFont typeface="Arial" panose="020B0604020202020204" pitchFamily="34" charset="0"/>
              <a:buChar char="ꟷ"/>
            </a:pPr>
            <a:r>
              <a:rPr lang="en-US" sz="1200" dirty="0">
                <a:solidFill>
                  <a:schemeClr val="tx1"/>
                </a:solidFill>
                <a:latin typeface="+mj-lt"/>
              </a:rPr>
              <a:t>Interest rate on personal loans varies </a:t>
            </a:r>
            <a:r>
              <a:rPr lang="en-US" sz="1200" b="1" dirty="0">
                <a:solidFill>
                  <a:schemeClr val="tx1"/>
                </a:solidFill>
                <a:latin typeface="+mj-lt"/>
              </a:rPr>
              <a:t>from 3.5-6.7 depending on duration</a:t>
            </a:r>
          </a:p>
        </p:txBody>
      </p:sp>
      <p:sp>
        <p:nvSpPr>
          <p:cNvPr id="17" name="Rectangle 16">
            <a:extLst>
              <a:ext uri="{FF2B5EF4-FFF2-40B4-BE49-F238E27FC236}">
                <a16:creationId xmlns:a16="http://schemas.microsoft.com/office/drawing/2014/main" id="{499CD8B9-59AA-DFD1-A5BD-EAF18F9824B8}"/>
              </a:ext>
            </a:extLst>
          </p:cNvPr>
          <p:cNvSpPr/>
          <p:nvPr/>
        </p:nvSpPr>
        <p:spPr>
          <a:xfrm>
            <a:off x="8134744" y="5179325"/>
            <a:ext cx="3447655" cy="99763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ꟷ"/>
            </a:pPr>
            <a:r>
              <a:rPr lang="en-US" sz="1200" dirty="0">
                <a:solidFill>
                  <a:schemeClr val="tx1"/>
                </a:solidFill>
                <a:latin typeface="+mj-lt"/>
              </a:rPr>
              <a:t>Investor could leverage </a:t>
            </a:r>
            <a:r>
              <a:rPr lang="en-US" sz="1200" dirty="0" err="1">
                <a:solidFill>
                  <a:schemeClr val="tx1"/>
                </a:solidFill>
                <a:latin typeface="+mj-lt"/>
              </a:rPr>
              <a:t>Xlta</a:t>
            </a:r>
            <a:r>
              <a:rPr lang="en-US" sz="1200" dirty="0">
                <a:solidFill>
                  <a:schemeClr val="tx1"/>
                </a:solidFill>
                <a:latin typeface="+mj-lt"/>
              </a:rPr>
              <a:t> service to receive an instant (3 sec) and at competitive interest rate</a:t>
            </a:r>
          </a:p>
        </p:txBody>
      </p:sp>
      <p:pic>
        <p:nvPicPr>
          <p:cNvPr id="18" name="Graphic 17">
            <a:extLst>
              <a:ext uri="{FF2B5EF4-FFF2-40B4-BE49-F238E27FC236}">
                <a16:creationId xmlns:a16="http://schemas.microsoft.com/office/drawing/2014/main" id="{137474E6-52C2-53FF-4EFB-ED1B8785CC25}"/>
              </a:ext>
            </a:extLst>
          </p:cNvPr>
          <p:cNvPicPr>
            <a:picLocks/>
          </p:cNvPicPr>
          <p:nvPr/>
        </p:nvPicPr>
        <p:blipFill>
          <a:blip r:embed="rId2">
            <a:extLst>
              <a:ext uri="{96DAC541-7B7A-43D3-8B79-37D633B846F1}">
                <asvg:svgBlip xmlns:asvg="http://schemas.microsoft.com/office/drawing/2016/SVG/main" r:embed="rId3"/>
              </a:ext>
            </a:extLst>
          </a:blip>
          <a:stretch>
            <a:fillRect/>
          </a:stretch>
        </p:blipFill>
        <p:spPr>
          <a:xfrm>
            <a:off x="1971354" y="2318000"/>
            <a:ext cx="724145" cy="724145"/>
          </a:xfrm>
          <a:prstGeom prst="rect">
            <a:avLst/>
          </a:prstGeom>
        </p:spPr>
      </p:pic>
      <p:pic>
        <p:nvPicPr>
          <p:cNvPr id="19" name="Graphic 18">
            <a:extLst>
              <a:ext uri="{FF2B5EF4-FFF2-40B4-BE49-F238E27FC236}">
                <a16:creationId xmlns:a16="http://schemas.microsoft.com/office/drawing/2014/main" id="{2659FE58-A5C9-9FEC-62A8-9C60172674C1}"/>
              </a:ext>
            </a:extLst>
          </p:cNvPr>
          <p:cNvPicPr>
            <a:picLocks/>
          </p:cNvPicPr>
          <p:nvPr/>
        </p:nvPicPr>
        <p:blipFill>
          <a:blip r:embed="rId4">
            <a:extLst>
              <a:ext uri="{96DAC541-7B7A-43D3-8B79-37D633B846F1}">
                <asvg:svgBlip xmlns:asvg="http://schemas.microsoft.com/office/drawing/2016/SVG/main" r:embed="rId5"/>
              </a:ext>
            </a:extLst>
          </a:blip>
          <a:stretch>
            <a:fillRect/>
          </a:stretch>
        </p:blipFill>
        <p:spPr>
          <a:xfrm>
            <a:off x="5734810" y="2318884"/>
            <a:ext cx="722376" cy="722376"/>
          </a:xfrm>
          <a:prstGeom prst="rect">
            <a:avLst/>
          </a:prstGeom>
        </p:spPr>
      </p:pic>
      <p:pic>
        <p:nvPicPr>
          <p:cNvPr id="20" name="Graphic 19">
            <a:extLst>
              <a:ext uri="{FF2B5EF4-FFF2-40B4-BE49-F238E27FC236}">
                <a16:creationId xmlns:a16="http://schemas.microsoft.com/office/drawing/2014/main" id="{2B2F44FA-7F25-015C-2BB7-DFF0C1C4B6FB}"/>
              </a:ext>
            </a:extLst>
          </p:cNvPr>
          <p:cNvPicPr>
            <a:picLocks/>
          </p:cNvPicPr>
          <p:nvPr/>
        </p:nvPicPr>
        <p:blipFill>
          <a:blip r:embed="rId6">
            <a:extLst>
              <a:ext uri="{96DAC541-7B7A-43D3-8B79-37D633B846F1}">
                <asvg:svgBlip xmlns:asvg="http://schemas.microsoft.com/office/drawing/2016/SVG/main" r:embed="rId7"/>
              </a:ext>
            </a:extLst>
          </a:blip>
          <a:stretch>
            <a:fillRect/>
          </a:stretch>
        </p:blipFill>
        <p:spPr>
          <a:xfrm>
            <a:off x="9497383" y="2318884"/>
            <a:ext cx="722376" cy="722376"/>
          </a:xfrm>
          <a:prstGeom prst="rect">
            <a:avLst/>
          </a:prstGeom>
        </p:spPr>
      </p:pic>
      <p:sp>
        <p:nvSpPr>
          <p:cNvPr id="21" name="Isosceles Triangle 20">
            <a:extLst>
              <a:ext uri="{FF2B5EF4-FFF2-40B4-BE49-F238E27FC236}">
                <a16:creationId xmlns:a16="http://schemas.microsoft.com/office/drawing/2014/main" id="{BD953F5C-113D-FFCE-E1E1-1B2465E8B053}"/>
              </a:ext>
            </a:extLst>
          </p:cNvPr>
          <p:cNvSpPr/>
          <p:nvPr/>
        </p:nvSpPr>
        <p:spPr>
          <a:xfrm rot="10800000">
            <a:off x="1803075" y="4899030"/>
            <a:ext cx="1060704" cy="184245"/>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err="1">
              <a:solidFill>
                <a:schemeClr val="tx1"/>
              </a:solidFill>
              <a:latin typeface="+mj-lt"/>
            </a:endParaRPr>
          </a:p>
        </p:txBody>
      </p:sp>
      <p:sp>
        <p:nvSpPr>
          <p:cNvPr id="22" name="Isosceles Triangle 21">
            <a:extLst>
              <a:ext uri="{FF2B5EF4-FFF2-40B4-BE49-F238E27FC236}">
                <a16:creationId xmlns:a16="http://schemas.microsoft.com/office/drawing/2014/main" id="{C78F76C5-EDC9-FD30-0DD8-8C36DF043DD4}"/>
              </a:ext>
            </a:extLst>
          </p:cNvPr>
          <p:cNvSpPr/>
          <p:nvPr/>
        </p:nvSpPr>
        <p:spPr>
          <a:xfrm rot="10800000">
            <a:off x="5565647" y="4899030"/>
            <a:ext cx="1060704" cy="184245"/>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err="1">
              <a:solidFill>
                <a:schemeClr val="tx1"/>
              </a:solidFill>
              <a:latin typeface="+mj-lt"/>
            </a:endParaRPr>
          </a:p>
        </p:txBody>
      </p:sp>
      <p:sp>
        <p:nvSpPr>
          <p:cNvPr id="23" name="Isosceles Triangle 22">
            <a:extLst>
              <a:ext uri="{FF2B5EF4-FFF2-40B4-BE49-F238E27FC236}">
                <a16:creationId xmlns:a16="http://schemas.microsoft.com/office/drawing/2014/main" id="{49D6726C-EC16-11AE-CFD3-74E7543DBE59}"/>
              </a:ext>
            </a:extLst>
          </p:cNvPr>
          <p:cNvSpPr/>
          <p:nvPr/>
        </p:nvSpPr>
        <p:spPr>
          <a:xfrm rot="10800000">
            <a:off x="9328219" y="4899030"/>
            <a:ext cx="1060704" cy="184245"/>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err="1">
              <a:solidFill>
                <a:schemeClr val="tx1"/>
              </a:solidFill>
              <a:latin typeface="+mj-lt"/>
            </a:endParaRPr>
          </a:p>
        </p:txBody>
      </p:sp>
      <p:pic>
        <p:nvPicPr>
          <p:cNvPr id="24" name="Graphic 23">
            <a:extLst>
              <a:ext uri="{FF2B5EF4-FFF2-40B4-BE49-F238E27FC236}">
                <a16:creationId xmlns:a16="http://schemas.microsoft.com/office/drawing/2014/main" id="{6836997D-43B7-14CE-A1A9-3AA320E62B20}"/>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11047931" y="2173016"/>
            <a:ext cx="534467" cy="534467"/>
          </a:xfrm>
          <a:prstGeom prst="rect">
            <a:avLst/>
          </a:prstGeom>
        </p:spPr>
      </p:pic>
      <p:pic>
        <p:nvPicPr>
          <p:cNvPr id="25" name="Graphic 24">
            <a:extLst>
              <a:ext uri="{FF2B5EF4-FFF2-40B4-BE49-F238E27FC236}">
                <a16:creationId xmlns:a16="http://schemas.microsoft.com/office/drawing/2014/main" id="{4B35A179-77E3-D657-A3BD-15620A1C0E98}"/>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11216100" y="6254163"/>
            <a:ext cx="366298" cy="366298"/>
          </a:xfrm>
          <a:prstGeom prst="rect">
            <a:avLst/>
          </a:prstGeom>
        </p:spPr>
      </p:pic>
      <p:sp>
        <p:nvSpPr>
          <p:cNvPr id="26" name="Rectangle 25">
            <a:extLst>
              <a:ext uri="{FF2B5EF4-FFF2-40B4-BE49-F238E27FC236}">
                <a16:creationId xmlns:a16="http://schemas.microsoft.com/office/drawing/2014/main" id="{0C19E014-3947-C36A-BD39-29849D06E66B}"/>
              </a:ext>
            </a:extLst>
          </p:cNvPr>
          <p:cNvSpPr/>
          <p:nvPr/>
        </p:nvSpPr>
        <p:spPr>
          <a:xfrm>
            <a:off x="10176595" y="6208712"/>
            <a:ext cx="1039503" cy="4572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r"/>
            <a:r>
              <a:rPr lang="en-US" sz="900" b="1" i="1" dirty="0">
                <a:solidFill>
                  <a:schemeClr val="tx1"/>
                </a:solidFill>
                <a:latin typeface="+mj-lt"/>
              </a:rPr>
              <a:t>Out Value Proposition</a:t>
            </a:r>
          </a:p>
        </p:txBody>
      </p:sp>
    </p:spTree>
    <p:extLst>
      <p:ext uri="{BB962C8B-B14F-4D97-AF65-F5344CB8AC3E}">
        <p14:creationId xmlns:p14="http://schemas.microsoft.com/office/powerpoint/2010/main" val="2960429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A4DE6-A6DA-1052-CFA8-1ED4858EB8C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05ED1C-9EA1-E18C-6091-A20695F5D62F}"/>
              </a:ext>
            </a:extLst>
          </p:cNvPr>
          <p:cNvSpPr>
            <a:spLocks noGrp="1"/>
          </p:cNvSpPr>
          <p:nvPr>
            <p:ph idx="1"/>
          </p:nvPr>
        </p:nvSpPr>
        <p:spPr/>
        <p:txBody>
          <a:bodyPr/>
          <a:lstStyle/>
          <a:p>
            <a:endParaRPr lang="en-US"/>
          </a:p>
        </p:txBody>
      </p:sp>
      <p:sp>
        <p:nvSpPr>
          <p:cNvPr id="4" name="Text Placeholder 3">
            <a:extLst>
              <a:ext uri="{FF2B5EF4-FFF2-40B4-BE49-F238E27FC236}">
                <a16:creationId xmlns:a16="http://schemas.microsoft.com/office/drawing/2014/main" id="{4D329957-3FD8-2F42-C028-9B0BC5580EC2}"/>
              </a:ext>
            </a:extLst>
          </p:cNvPr>
          <p:cNvSpPr>
            <a:spLocks noGrp="1"/>
          </p:cNvSpPr>
          <p:nvPr>
            <p:ph type="body" sz="quarter" idx="13"/>
          </p:nvPr>
        </p:nvSpPr>
        <p:spPr/>
        <p:txBody>
          <a:bodyPr/>
          <a:lstStyle/>
          <a:p>
            <a:endParaRPr lang="en-US"/>
          </a:p>
        </p:txBody>
      </p:sp>
      <p:sp>
        <p:nvSpPr>
          <p:cNvPr id="5" name="Content Placeholder 4">
            <a:extLst>
              <a:ext uri="{FF2B5EF4-FFF2-40B4-BE49-F238E27FC236}">
                <a16:creationId xmlns:a16="http://schemas.microsoft.com/office/drawing/2014/main" id="{6FBED466-3F1A-FC6A-FAA0-E512BB237502}"/>
              </a:ext>
            </a:extLst>
          </p:cNvPr>
          <p:cNvSpPr>
            <a:spLocks noGrp="1"/>
          </p:cNvSpPr>
          <p:nvPr>
            <p:ph sz="quarter" idx="14"/>
          </p:nvPr>
        </p:nvSpPr>
        <p:spPr/>
        <p:txBody>
          <a:bodyPr/>
          <a:lstStyle/>
          <a:p>
            <a:endParaRPr lang="en-US"/>
          </a:p>
        </p:txBody>
      </p:sp>
      <p:sp>
        <p:nvSpPr>
          <p:cNvPr id="6" name="Rectangle 5">
            <a:extLst>
              <a:ext uri="{FF2B5EF4-FFF2-40B4-BE49-F238E27FC236}">
                <a16:creationId xmlns:a16="http://schemas.microsoft.com/office/drawing/2014/main" id="{0DFA4CA4-457C-2D35-B920-7DFCFBB27959}"/>
              </a:ext>
            </a:extLst>
          </p:cNvPr>
          <p:cNvSpPr/>
          <p:nvPr/>
        </p:nvSpPr>
        <p:spPr>
          <a:xfrm>
            <a:off x="1001059" y="5683624"/>
            <a:ext cx="2997200" cy="488576"/>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Personal Loan</a:t>
            </a:r>
          </a:p>
        </p:txBody>
      </p:sp>
      <p:sp>
        <p:nvSpPr>
          <p:cNvPr id="7" name="Rectangle 6">
            <a:extLst>
              <a:ext uri="{FF2B5EF4-FFF2-40B4-BE49-F238E27FC236}">
                <a16:creationId xmlns:a16="http://schemas.microsoft.com/office/drawing/2014/main" id="{DEB805E7-F892-EF56-B103-20779E9CA846}"/>
              </a:ext>
            </a:extLst>
          </p:cNvPr>
          <p:cNvSpPr/>
          <p:nvPr/>
        </p:nvSpPr>
        <p:spPr>
          <a:xfrm>
            <a:off x="1569147" y="5115673"/>
            <a:ext cx="1861025" cy="488576"/>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Risk Free Rate</a:t>
            </a:r>
          </a:p>
        </p:txBody>
      </p:sp>
      <p:sp>
        <p:nvSpPr>
          <p:cNvPr id="8" name="Rectangle 7">
            <a:extLst>
              <a:ext uri="{FF2B5EF4-FFF2-40B4-BE49-F238E27FC236}">
                <a16:creationId xmlns:a16="http://schemas.microsoft.com/office/drawing/2014/main" id="{789D47D0-2DC9-1685-2A54-65F33D4D3F04}"/>
              </a:ext>
            </a:extLst>
          </p:cNvPr>
          <p:cNvSpPr/>
          <p:nvPr/>
        </p:nvSpPr>
        <p:spPr>
          <a:xfrm>
            <a:off x="1569147" y="4587410"/>
            <a:ext cx="1861025" cy="488576"/>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Inflation Rate</a:t>
            </a:r>
          </a:p>
        </p:txBody>
      </p:sp>
      <p:sp>
        <p:nvSpPr>
          <p:cNvPr id="9" name="Rectangle 8">
            <a:extLst>
              <a:ext uri="{FF2B5EF4-FFF2-40B4-BE49-F238E27FC236}">
                <a16:creationId xmlns:a16="http://schemas.microsoft.com/office/drawing/2014/main" id="{173D060F-F6E2-90F2-78B3-86D06AAAC153}"/>
              </a:ext>
            </a:extLst>
          </p:cNvPr>
          <p:cNvSpPr/>
          <p:nvPr/>
        </p:nvSpPr>
        <p:spPr>
          <a:xfrm>
            <a:off x="1569147" y="4019459"/>
            <a:ext cx="1861025" cy="488576"/>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Liquidity Premium</a:t>
            </a:r>
          </a:p>
        </p:txBody>
      </p:sp>
      <p:sp>
        <p:nvSpPr>
          <p:cNvPr id="10" name="Rectangle 9">
            <a:extLst>
              <a:ext uri="{FF2B5EF4-FFF2-40B4-BE49-F238E27FC236}">
                <a16:creationId xmlns:a16="http://schemas.microsoft.com/office/drawing/2014/main" id="{9EC79B3B-1F9E-EFCC-7A17-8510DBB83931}"/>
              </a:ext>
            </a:extLst>
          </p:cNvPr>
          <p:cNvSpPr/>
          <p:nvPr/>
        </p:nvSpPr>
        <p:spPr>
          <a:xfrm>
            <a:off x="1569147" y="3491196"/>
            <a:ext cx="1861025" cy="488576"/>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Maturity Premium</a:t>
            </a:r>
          </a:p>
        </p:txBody>
      </p:sp>
      <p:sp>
        <p:nvSpPr>
          <p:cNvPr id="12" name="Rectangle 11">
            <a:extLst>
              <a:ext uri="{FF2B5EF4-FFF2-40B4-BE49-F238E27FC236}">
                <a16:creationId xmlns:a16="http://schemas.microsoft.com/office/drawing/2014/main" id="{F38CB8A4-F655-E87D-C43D-AFF000E4A68E}"/>
              </a:ext>
            </a:extLst>
          </p:cNvPr>
          <p:cNvSpPr/>
          <p:nvPr/>
        </p:nvSpPr>
        <p:spPr>
          <a:xfrm>
            <a:off x="4509084" y="5683624"/>
            <a:ext cx="2997200" cy="488576"/>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latin typeface="+mj-lt"/>
              </a:rPr>
              <a:t>Xlta</a:t>
            </a:r>
            <a:r>
              <a:rPr lang="en-US" sz="1200" dirty="0">
                <a:solidFill>
                  <a:schemeClr val="tx1"/>
                </a:solidFill>
                <a:latin typeface="+mj-lt"/>
              </a:rPr>
              <a:t>`` Loan</a:t>
            </a:r>
          </a:p>
        </p:txBody>
      </p:sp>
      <p:sp>
        <p:nvSpPr>
          <p:cNvPr id="13" name="Rectangle 12">
            <a:extLst>
              <a:ext uri="{FF2B5EF4-FFF2-40B4-BE49-F238E27FC236}">
                <a16:creationId xmlns:a16="http://schemas.microsoft.com/office/drawing/2014/main" id="{188AC19A-520F-7EF4-5C24-8A6BF3FEFFC6}"/>
              </a:ext>
            </a:extLst>
          </p:cNvPr>
          <p:cNvSpPr/>
          <p:nvPr/>
        </p:nvSpPr>
        <p:spPr>
          <a:xfrm>
            <a:off x="5077172" y="5115673"/>
            <a:ext cx="1861025" cy="488576"/>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Risk Free Rate</a:t>
            </a:r>
          </a:p>
        </p:txBody>
      </p:sp>
      <p:sp>
        <p:nvSpPr>
          <p:cNvPr id="14" name="Rectangle 13">
            <a:extLst>
              <a:ext uri="{FF2B5EF4-FFF2-40B4-BE49-F238E27FC236}">
                <a16:creationId xmlns:a16="http://schemas.microsoft.com/office/drawing/2014/main" id="{16DFE460-8123-4C2A-0A7F-809AC2A1D334}"/>
              </a:ext>
            </a:extLst>
          </p:cNvPr>
          <p:cNvSpPr/>
          <p:nvPr/>
        </p:nvSpPr>
        <p:spPr>
          <a:xfrm>
            <a:off x="5077172" y="4587410"/>
            <a:ext cx="1861025" cy="488576"/>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Inflation Rate</a:t>
            </a:r>
          </a:p>
        </p:txBody>
      </p:sp>
      <p:sp>
        <p:nvSpPr>
          <p:cNvPr id="15" name="Rectangle 14">
            <a:extLst>
              <a:ext uri="{FF2B5EF4-FFF2-40B4-BE49-F238E27FC236}">
                <a16:creationId xmlns:a16="http://schemas.microsoft.com/office/drawing/2014/main" id="{CE54DAA2-CB27-FF9B-C502-DA651C9BE78D}"/>
              </a:ext>
            </a:extLst>
          </p:cNvPr>
          <p:cNvSpPr/>
          <p:nvPr/>
        </p:nvSpPr>
        <p:spPr>
          <a:xfrm>
            <a:off x="5077172" y="4019459"/>
            <a:ext cx="1861025" cy="488576"/>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Liquidity Premium</a:t>
            </a:r>
          </a:p>
        </p:txBody>
      </p:sp>
      <p:sp>
        <p:nvSpPr>
          <p:cNvPr id="16" name="Rectangle 15">
            <a:extLst>
              <a:ext uri="{FF2B5EF4-FFF2-40B4-BE49-F238E27FC236}">
                <a16:creationId xmlns:a16="http://schemas.microsoft.com/office/drawing/2014/main" id="{9A1158F8-9CEF-21B5-D859-3D7FC5436778}"/>
              </a:ext>
            </a:extLst>
          </p:cNvPr>
          <p:cNvSpPr/>
          <p:nvPr/>
        </p:nvSpPr>
        <p:spPr>
          <a:xfrm>
            <a:off x="5077172" y="3491196"/>
            <a:ext cx="1861025" cy="488576"/>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Maturity Premium</a:t>
            </a:r>
          </a:p>
        </p:txBody>
      </p:sp>
      <p:sp>
        <p:nvSpPr>
          <p:cNvPr id="17" name="Rectangle 16">
            <a:extLst>
              <a:ext uri="{FF2B5EF4-FFF2-40B4-BE49-F238E27FC236}">
                <a16:creationId xmlns:a16="http://schemas.microsoft.com/office/drawing/2014/main" id="{D0CE4127-4C2B-5066-9432-2BBC7E0672F6}"/>
              </a:ext>
            </a:extLst>
          </p:cNvPr>
          <p:cNvSpPr/>
          <p:nvPr/>
        </p:nvSpPr>
        <p:spPr>
          <a:xfrm>
            <a:off x="5077172" y="2073835"/>
            <a:ext cx="1861025" cy="1355165"/>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Maturity Premium</a:t>
            </a:r>
          </a:p>
        </p:txBody>
      </p:sp>
    </p:spTree>
    <p:extLst>
      <p:ext uri="{BB962C8B-B14F-4D97-AF65-F5344CB8AC3E}">
        <p14:creationId xmlns:p14="http://schemas.microsoft.com/office/powerpoint/2010/main" val="4179335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54FD9-27D3-D24E-CBAB-B1920CF02D52}"/>
              </a:ext>
            </a:extLst>
          </p:cNvPr>
          <p:cNvSpPr>
            <a:spLocks noGrp="1"/>
          </p:cNvSpPr>
          <p:nvPr>
            <p:ph type="title"/>
          </p:nvPr>
        </p:nvSpPr>
        <p:spPr/>
        <p:txBody>
          <a:bodyPr>
            <a:normAutofit/>
          </a:bodyPr>
          <a:lstStyle/>
          <a:p>
            <a:r>
              <a:rPr lang="en-US" dirty="0"/>
              <a:t>We will bring our Invest Now Pay Later solution to provide instant loans at competitive interest that can be paid over 4 payments</a:t>
            </a:r>
          </a:p>
        </p:txBody>
      </p:sp>
      <p:sp>
        <p:nvSpPr>
          <p:cNvPr id="4" name="Text Placeholder 3">
            <a:extLst>
              <a:ext uri="{FF2B5EF4-FFF2-40B4-BE49-F238E27FC236}">
                <a16:creationId xmlns:a16="http://schemas.microsoft.com/office/drawing/2014/main" id="{9D021991-2F6D-27D9-DB5D-2B8A7062E0AE}"/>
              </a:ext>
            </a:extLst>
          </p:cNvPr>
          <p:cNvSpPr>
            <a:spLocks noGrp="1"/>
          </p:cNvSpPr>
          <p:nvPr>
            <p:ph type="body" sz="quarter" idx="13"/>
          </p:nvPr>
        </p:nvSpPr>
        <p:spPr/>
        <p:txBody>
          <a:bodyPr/>
          <a:lstStyle/>
          <a:p>
            <a:r>
              <a:rPr lang="en-US" dirty="0"/>
              <a:t>Source: </a:t>
            </a:r>
            <a:r>
              <a:rPr lang="en-US" dirty="0" err="1"/>
              <a:t>Xlta</a:t>
            </a:r>
            <a:r>
              <a:rPr lang="en-US" dirty="0"/>
              <a:t> analysis</a:t>
            </a:r>
          </a:p>
        </p:txBody>
      </p:sp>
      <p:sp>
        <p:nvSpPr>
          <p:cNvPr id="5" name="Content Placeholder 4">
            <a:extLst>
              <a:ext uri="{FF2B5EF4-FFF2-40B4-BE49-F238E27FC236}">
                <a16:creationId xmlns:a16="http://schemas.microsoft.com/office/drawing/2014/main" id="{BA25D91A-3E0D-87BC-8AC8-B567C4F957C3}"/>
              </a:ext>
            </a:extLst>
          </p:cNvPr>
          <p:cNvSpPr>
            <a:spLocks noGrp="1"/>
          </p:cNvSpPr>
          <p:nvPr>
            <p:ph sz="quarter" idx="14"/>
          </p:nvPr>
        </p:nvSpPr>
        <p:spPr/>
        <p:txBody>
          <a:bodyPr/>
          <a:lstStyle/>
          <a:p>
            <a:r>
              <a:rPr lang="en-US" dirty="0"/>
              <a:t>Business Case</a:t>
            </a:r>
          </a:p>
        </p:txBody>
      </p:sp>
      <p:sp>
        <p:nvSpPr>
          <p:cNvPr id="6" name="Rectangle 5">
            <a:extLst>
              <a:ext uri="{FF2B5EF4-FFF2-40B4-BE49-F238E27FC236}">
                <a16:creationId xmlns:a16="http://schemas.microsoft.com/office/drawing/2014/main" id="{56AAD3D1-2209-2F6A-9230-7A9E6C28E3AF}"/>
              </a:ext>
            </a:extLst>
          </p:cNvPr>
          <p:cNvSpPr/>
          <p:nvPr/>
        </p:nvSpPr>
        <p:spPr>
          <a:xfrm>
            <a:off x="609600" y="1492250"/>
            <a:ext cx="10972800" cy="36576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err="1">
                <a:solidFill>
                  <a:schemeClr val="tx1"/>
                </a:solidFill>
                <a:latin typeface="+mj-lt"/>
              </a:rPr>
              <a:t>Xlta</a:t>
            </a:r>
            <a:r>
              <a:rPr lang="en-US" sz="1600" b="1" dirty="0">
                <a:solidFill>
                  <a:schemeClr val="tx1"/>
                </a:solidFill>
                <a:latin typeface="+mj-lt"/>
              </a:rPr>
              <a:t> Value Proposition</a:t>
            </a:r>
          </a:p>
        </p:txBody>
      </p:sp>
      <p:cxnSp>
        <p:nvCxnSpPr>
          <p:cNvPr id="7" name="Straight Connector 6">
            <a:extLst>
              <a:ext uri="{FF2B5EF4-FFF2-40B4-BE49-F238E27FC236}">
                <a16:creationId xmlns:a16="http://schemas.microsoft.com/office/drawing/2014/main" id="{43A84D38-13A4-812A-C795-8B8C062CC1D9}"/>
              </a:ext>
            </a:extLst>
          </p:cNvPr>
          <p:cNvCxnSpPr>
            <a:cxnSpLocks/>
          </p:cNvCxnSpPr>
          <p:nvPr/>
        </p:nvCxnSpPr>
        <p:spPr>
          <a:xfrm>
            <a:off x="609600" y="1858010"/>
            <a:ext cx="10972800" cy="0"/>
          </a:xfrm>
          <a:prstGeom prst="line">
            <a:avLst/>
          </a:prstGeom>
          <a:ln>
            <a:solidFill>
              <a:schemeClr val="tx1"/>
            </a:solidFill>
            <a:headEnd type="diamond"/>
            <a:tailEnd type="diamond"/>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537D349C-2229-AD02-204E-BBDEEA76AE0A}"/>
              </a:ext>
            </a:extLst>
          </p:cNvPr>
          <p:cNvSpPr/>
          <p:nvPr/>
        </p:nvSpPr>
        <p:spPr>
          <a:xfrm>
            <a:off x="609599" y="3770289"/>
            <a:ext cx="2056327" cy="91440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Investor buys a position within the market at 0 cash upfront</a:t>
            </a:r>
          </a:p>
        </p:txBody>
      </p:sp>
      <p:grpSp>
        <p:nvGrpSpPr>
          <p:cNvPr id="52" name="Group 51">
            <a:extLst>
              <a:ext uri="{FF2B5EF4-FFF2-40B4-BE49-F238E27FC236}">
                <a16:creationId xmlns:a16="http://schemas.microsoft.com/office/drawing/2014/main" id="{7F954138-6517-AEDD-C580-A652008E0295}"/>
              </a:ext>
            </a:extLst>
          </p:cNvPr>
          <p:cNvGrpSpPr/>
          <p:nvPr/>
        </p:nvGrpSpPr>
        <p:grpSpPr>
          <a:xfrm>
            <a:off x="2719638" y="2735945"/>
            <a:ext cx="2056327" cy="3433852"/>
            <a:chOff x="2719638" y="2444493"/>
            <a:chExt cx="2056327" cy="3725304"/>
          </a:xfrm>
        </p:grpSpPr>
        <p:cxnSp>
          <p:nvCxnSpPr>
            <p:cNvPr id="14" name="Straight Connector 13">
              <a:extLst>
                <a:ext uri="{FF2B5EF4-FFF2-40B4-BE49-F238E27FC236}">
                  <a16:creationId xmlns:a16="http://schemas.microsoft.com/office/drawing/2014/main" id="{0C0D9A58-A5FB-6B71-C2F8-43DF442310E6}"/>
                </a:ext>
              </a:extLst>
            </p:cNvPr>
            <p:cNvCxnSpPr>
              <a:cxnSpLocks/>
            </p:cNvCxnSpPr>
            <p:nvPr/>
          </p:nvCxnSpPr>
          <p:spPr>
            <a:xfrm>
              <a:off x="3747801" y="2444493"/>
              <a:ext cx="0" cy="2810904"/>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D76BAB7D-EB67-84DF-6435-E5ADE815E7B2}"/>
                </a:ext>
              </a:extLst>
            </p:cNvPr>
            <p:cNvSpPr/>
            <p:nvPr/>
          </p:nvSpPr>
          <p:spPr>
            <a:xfrm>
              <a:off x="2719638" y="5255397"/>
              <a:ext cx="2056327" cy="9144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latin typeface="+mj-lt"/>
                </a:rPr>
                <a:t>Xlta</a:t>
              </a:r>
              <a:r>
                <a:rPr lang="en-US" sz="1200" dirty="0">
                  <a:solidFill>
                    <a:schemeClr val="tx1"/>
                  </a:solidFill>
                  <a:latin typeface="+mj-lt"/>
                </a:rPr>
                <a:t> funds purchase request with competitive interest on investor</a:t>
              </a:r>
            </a:p>
          </p:txBody>
        </p:sp>
      </p:grpSp>
      <p:sp>
        <p:nvSpPr>
          <p:cNvPr id="9" name="Oval 8">
            <a:extLst>
              <a:ext uri="{FF2B5EF4-FFF2-40B4-BE49-F238E27FC236}">
                <a16:creationId xmlns:a16="http://schemas.microsoft.com/office/drawing/2014/main" id="{9BF7C8FF-1C85-0279-359A-8F9F2F461E09}"/>
              </a:ext>
            </a:extLst>
          </p:cNvPr>
          <p:cNvSpPr/>
          <p:nvPr/>
        </p:nvSpPr>
        <p:spPr>
          <a:xfrm>
            <a:off x="1180562" y="2788578"/>
            <a:ext cx="914400" cy="9144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err="1">
              <a:solidFill>
                <a:schemeClr val="tx1"/>
              </a:solidFill>
              <a:latin typeface="+mj-lt"/>
            </a:endParaRPr>
          </a:p>
        </p:txBody>
      </p:sp>
      <p:pic>
        <p:nvPicPr>
          <p:cNvPr id="29" name="Graphic 28">
            <a:extLst>
              <a:ext uri="{FF2B5EF4-FFF2-40B4-BE49-F238E27FC236}">
                <a16:creationId xmlns:a16="http://schemas.microsoft.com/office/drawing/2014/main" id="{11A20369-855B-17D3-4DA8-869517D2BA59}"/>
              </a:ext>
            </a:extLst>
          </p:cNvPr>
          <p:cNvPicPr>
            <a:picLocks/>
          </p:cNvPicPr>
          <p:nvPr/>
        </p:nvPicPr>
        <p:blipFill>
          <a:blip r:embed="rId2">
            <a:extLst>
              <a:ext uri="{96DAC541-7B7A-43D3-8B79-37D633B846F1}">
                <asvg:svgBlip xmlns:asvg="http://schemas.microsoft.com/office/drawing/2016/SVG/main" r:embed="rId3"/>
              </a:ext>
            </a:extLst>
          </a:blip>
          <a:stretch>
            <a:fillRect/>
          </a:stretch>
        </p:blipFill>
        <p:spPr>
          <a:xfrm>
            <a:off x="1416037" y="3024053"/>
            <a:ext cx="443450" cy="443450"/>
          </a:xfrm>
          <a:prstGeom prst="rect">
            <a:avLst/>
          </a:prstGeom>
        </p:spPr>
      </p:pic>
      <p:sp>
        <p:nvSpPr>
          <p:cNvPr id="16" name="Rectangle 15">
            <a:extLst>
              <a:ext uri="{FF2B5EF4-FFF2-40B4-BE49-F238E27FC236}">
                <a16:creationId xmlns:a16="http://schemas.microsoft.com/office/drawing/2014/main" id="{335A3FF2-5445-32DD-6EBD-416BDF501241}"/>
              </a:ext>
            </a:extLst>
          </p:cNvPr>
          <p:cNvSpPr/>
          <p:nvPr/>
        </p:nvSpPr>
        <p:spPr>
          <a:xfrm>
            <a:off x="4746940" y="2146198"/>
            <a:ext cx="1668580" cy="41025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Payment 1</a:t>
            </a:r>
          </a:p>
        </p:txBody>
      </p:sp>
      <p:sp>
        <p:nvSpPr>
          <p:cNvPr id="21" name="Rectangle 20">
            <a:extLst>
              <a:ext uri="{FF2B5EF4-FFF2-40B4-BE49-F238E27FC236}">
                <a16:creationId xmlns:a16="http://schemas.microsoft.com/office/drawing/2014/main" id="{5E95C108-D51C-8837-4A64-38765C90BCEF}"/>
              </a:ext>
            </a:extLst>
          </p:cNvPr>
          <p:cNvSpPr/>
          <p:nvPr/>
        </p:nvSpPr>
        <p:spPr>
          <a:xfrm>
            <a:off x="4808756" y="3770289"/>
            <a:ext cx="1544949" cy="91440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Investor makes payment 1</a:t>
            </a:r>
          </a:p>
        </p:txBody>
      </p:sp>
      <p:sp>
        <p:nvSpPr>
          <p:cNvPr id="32" name="Oval 31">
            <a:extLst>
              <a:ext uri="{FF2B5EF4-FFF2-40B4-BE49-F238E27FC236}">
                <a16:creationId xmlns:a16="http://schemas.microsoft.com/office/drawing/2014/main" id="{B16341C0-E552-520C-5370-5726CEA8854B}"/>
              </a:ext>
            </a:extLst>
          </p:cNvPr>
          <p:cNvSpPr/>
          <p:nvPr/>
        </p:nvSpPr>
        <p:spPr>
          <a:xfrm>
            <a:off x="5124030" y="2788578"/>
            <a:ext cx="914400" cy="9144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err="1">
              <a:solidFill>
                <a:schemeClr val="tx1"/>
              </a:solidFill>
              <a:latin typeface="+mj-lt"/>
            </a:endParaRPr>
          </a:p>
        </p:txBody>
      </p:sp>
      <p:pic>
        <p:nvPicPr>
          <p:cNvPr id="33" name="Graphic 32">
            <a:extLst>
              <a:ext uri="{FF2B5EF4-FFF2-40B4-BE49-F238E27FC236}">
                <a16:creationId xmlns:a16="http://schemas.microsoft.com/office/drawing/2014/main" id="{25AD9618-C488-239C-79CA-66AF224C49D6}"/>
              </a:ext>
            </a:extLst>
          </p:cNvPr>
          <p:cNvPicPr>
            <a:picLocks/>
          </p:cNvPicPr>
          <p:nvPr/>
        </p:nvPicPr>
        <p:blipFill>
          <a:blip r:embed="rId2">
            <a:extLst>
              <a:ext uri="{96DAC541-7B7A-43D3-8B79-37D633B846F1}">
                <asvg:svgBlip xmlns:asvg="http://schemas.microsoft.com/office/drawing/2016/SVG/main" r:embed="rId3"/>
              </a:ext>
            </a:extLst>
          </a:blip>
          <a:stretch>
            <a:fillRect/>
          </a:stretch>
        </p:blipFill>
        <p:spPr>
          <a:xfrm>
            <a:off x="5359505" y="3024053"/>
            <a:ext cx="443450" cy="443450"/>
          </a:xfrm>
          <a:prstGeom prst="rect">
            <a:avLst/>
          </a:prstGeom>
        </p:spPr>
      </p:pic>
      <p:sp>
        <p:nvSpPr>
          <p:cNvPr id="17" name="Rectangle 16">
            <a:extLst>
              <a:ext uri="{FF2B5EF4-FFF2-40B4-BE49-F238E27FC236}">
                <a16:creationId xmlns:a16="http://schemas.microsoft.com/office/drawing/2014/main" id="{6AB08FAB-4B1C-0C55-0358-1C5E539303FD}"/>
              </a:ext>
            </a:extLst>
          </p:cNvPr>
          <p:cNvSpPr/>
          <p:nvPr/>
        </p:nvSpPr>
        <p:spPr>
          <a:xfrm>
            <a:off x="6469232" y="2146198"/>
            <a:ext cx="1668580" cy="41025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Payment 2</a:t>
            </a:r>
          </a:p>
        </p:txBody>
      </p:sp>
      <p:sp>
        <p:nvSpPr>
          <p:cNvPr id="23" name="Rectangle 22">
            <a:extLst>
              <a:ext uri="{FF2B5EF4-FFF2-40B4-BE49-F238E27FC236}">
                <a16:creationId xmlns:a16="http://schemas.microsoft.com/office/drawing/2014/main" id="{3BF217B8-CB6C-83D7-E3D8-2AB78EFF8520}"/>
              </a:ext>
            </a:extLst>
          </p:cNvPr>
          <p:cNvSpPr/>
          <p:nvPr/>
        </p:nvSpPr>
        <p:spPr>
          <a:xfrm>
            <a:off x="6531048" y="3770289"/>
            <a:ext cx="1544949" cy="91440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Investor makes payment 2</a:t>
            </a:r>
          </a:p>
        </p:txBody>
      </p:sp>
      <p:sp>
        <p:nvSpPr>
          <p:cNvPr id="35" name="Oval 34">
            <a:extLst>
              <a:ext uri="{FF2B5EF4-FFF2-40B4-BE49-F238E27FC236}">
                <a16:creationId xmlns:a16="http://schemas.microsoft.com/office/drawing/2014/main" id="{E36B84C3-257A-FF66-A94B-6B544D92DAB0}"/>
              </a:ext>
            </a:extLst>
          </p:cNvPr>
          <p:cNvSpPr/>
          <p:nvPr/>
        </p:nvSpPr>
        <p:spPr>
          <a:xfrm>
            <a:off x="6846322" y="2788578"/>
            <a:ext cx="914400" cy="9144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err="1">
              <a:solidFill>
                <a:schemeClr val="tx1"/>
              </a:solidFill>
              <a:latin typeface="+mj-lt"/>
            </a:endParaRPr>
          </a:p>
        </p:txBody>
      </p:sp>
      <p:pic>
        <p:nvPicPr>
          <p:cNvPr id="36" name="Graphic 35">
            <a:extLst>
              <a:ext uri="{FF2B5EF4-FFF2-40B4-BE49-F238E27FC236}">
                <a16:creationId xmlns:a16="http://schemas.microsoft.com/office/drawing/2014/main" id="{18FA37BC-4380-2877-9F0B-F9A8D377D3D5}"/>
              </a:ext>
            </a:extLst>
          </p:cNvPr>
          <p:cNvPicPr>
            <a:picLocks/>
          </p:cNvPicPr>
          <p:nvPr/>
        </p:nvPicPr>
        <p:blipFill>
          <a:blip r:embed="rId2">
            <a:extLst>
              <a:ext uri="{96DAC541-7B7A-43D3-8B79-37D633B846F1}">
                <asvg:svgBlip xmlns:asvg="http://schemas.microsoft.com/office/drawing/2016/SVG/main" r:embed="rId3"/>
              </a:ext>
            </a:extLst>
          </a:blip>
          <a:stretch>
            <a:fillRect/>
          </a:stretch>
        </p:blipFill>
        <p:spPr>
          <a:xfrm>
            <a:off x="7081797" y="3024053"/>
            <a:ext cx="443450" cy="443450"/>
          </a:xfrm>
          <a:prstGeom prst="rect">
            <a:avLst/>
          </a:prstGeom>
        </p:spPr>
      </p:pic>
      <p:sp>
        <p:nvSpPr>
          <p:cNvPr id="18" name="Rectangle 17">
            <a:extLst>
              <a:ext uri="{FF2B5EF4-FFF2-40B4-BE49-F238E27FC236}">
                <a16:creationId xmlns:a16="http://schemas.microsoft.com/office/drawing/2014/main" id="{63234D00-B093-C106-7880-4E3B835F4C8C}"/>
              </a:ext>
            </a:extLst>
          </p:cNvPr>
          <p:cNvSpPr/>
          <p:nvPr/>
        </p:nvSpPr>
        <p:spPr>
          <a:xfrm>
            <a:off x="8191524" y="2146198"/>
            <a:ext cx="1668580" cy="41025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Payment 3</a:t>
            </a:r>
          </a:p>
        </p:txBody>
      </p:sp>
      <p:sp>
        <p:nvSpPr>
          <p:cNvPr id="25" name="Rectangle 24">
            <a:extLst>
              <a:ext uri="{FF2B5EF4-FFF2-40B4-BE49-F238E27FC236}">
                <a16:creationId xmlns:a16="http://schemas.microsoft.com/office/drawing/2014/main" id="{31973597-FDD2-BD7A-6590-484D67AF4DEF}"/>
              </a:ext>
            </a:extLst>
          </p:cNvPr>
          <p:cNvSpPr/>
          <p:nvPr/>
        </p:nvSpPr>
        <p:spPr>
          <a:xfrm>
            <a:off x="8253340" y="3770289"/>
            <a:ext cx="1544949" cy="91440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Investor makes payment 3</a:t>
            </a:r>
          </a:p>
        </p:txBody>
      </p:sp>
      <p:sp>
        <p:nvSpPr>
          <p:cNvPr id="38" name="Oval 37">
            <a:extLst>
              <a:ext uri="{FF2B5EF4-FFF2-40B4-BE49-F238E27FC236}">
                <a16:creationId xmlns:a16="http://schemas.microsoft.com/office/drawing/2014/main" id="{C7E4537C-22CC-3E95-19F4-2188C9C74919}"/>
              </a:ext>
            </a:extLst>
          </p:cNvPr>
          <p:cNvSpPr/>
          <p:nvPr/>
        </p:nvSpPr>
        <p:spPr>
          <a:xfrm>
            <a:off x="8568614" y="2788578"/>
            <a:ext cx="914400" cy="9144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err="1">
              <a:solidFill>
                <a:schemeClr val="tx1"/>
              </a:solidFill>
              <a:latin typeface="+mj-lt"/>
            </a:endParaRPr>
          </a:p>
        </p:txBody>
      </p:sp>
      <p:pic>
        <p:nvPicPr>
          <p:cNvPr id="39" name="Graphic 38">
            <a:extLst>
              <a:ext uri="{FF2B5EF4-FFF2-40B4-BE49-F238E27FC236}">
                <a16:creationId xmlns:a16="http://schemas.microsoft.com/office/drawing/2014/main" id="{11ADB288-88C7-761E-3C52-222DA22ADC0D}"/>
              </a:ext>
            </a:extLst>
          </p:cNvPr>
          <p:cNvPicPr>
            <a:picLocks/>
          </p:cNvPicPr>
          <p:nvPr/>
        </p:nvPicPr>
        <p:blipFill>
          <a:blip r:embed="rId2">
            <a:extLst>
              <a:ext uri="{96DAC541-7B7A-43D3-8B79-37D633B846F1}">
                <asvg:svgBlip xmlns:asvg="http://schemas.microsoft.com/office/drawing/2016/SVG/main" r:embed="rId3"/>
              </a:ext>
            </a:extLst>
          </a:blip>
          <a:stretch>
            <a:fillRect/>
          </a:stretch>
        </p:blipFill>
        <p:spPr>
          <a:xfrm>
            <a:off x="8804089" y="3024053"/>
            <a:ext cx="443450" cy="443450"/>
          </a:xfrm>
          <a:prstGeom prst="rect">
            <a:avLst/>
          </a:prstGeom>
        </p:spPr>
      </p:pic>
      <p:sp>
        <p:nvSpPr>
          <p:cNvPr id="19" name="Rectangle 18">
            <a:extLst>
              <a:ext uri="{FF2B5EF4-FFF2-40B4-BE49-F238E27FC236}">
                <a16:creationId xmlns:a16="http://schemas.microsoft.com/office/drawing/2014/main" id="{D9CDD3FB-9704-B2ED-3726-568C73F7B60F}"/>
              </a:ext>
            </a:extLst>
          </p:cNvPr>
          <p:cNvSpPr/>
          <p:nvPr/>
        </p:nvSpPr>
        <p:spPr>
          <a:xfrm>
            <a:off x="9913817" y="2146198"/>
            <a:ext cx="1668580" cy="41025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Payment 4</a:t>
            </a:r>
          </a:p>
        </p:txBody>
      </p:sp>
      <p:sp>
        <p:nvSpPr>
          <p:cNvPr id="27" name="Rectangle 26">
            <a:extLst>
              <a:ext uri="{FF2B5EF4-FFF2-40B4-BE49-F238E27FC236}">
                <a16:creationId xmlns:a16="http://schemas.microsoft.com/office/drawing/2014/main" id="{D4BEF4F3-49A0-4271-AD6A-FE365EC750C0}"/>
              </a:ext>
            </a:extLst>
          </p:cNvPr>
          <p:cNvSpPr/>
          <p:nvPr/>
        </p:nvSpPr>
        <p:spPr>
          <a:xfrm>
            <a:off x="9975633" y="3770289"/>
            <a:ext cx="1544949" cy="91440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mj-lt"/>
              </a:rPr>
              <a:t>Investor makes payment 4</a:t>
            </a:r>
          </a:p>
        </p:txBody>
      </p:sp>
      <p:sp>
        <p:nvSpPr>
          <p:cNvPr id="41" name="Oval 40">
            <a:extLst>
              <a:ext uri="{FF2B5EF4-FFF2-40B4-BE49-F238E27FC236}">
                <a16:creationId xmlns:a16="http://schemas.microsoft.com/office/drawing/2014/main" id="{1E3E7BA7-F784-619B-5793-AC32124E3848}"/>
              </a:ext>
            </a:extLst>
          </p:cNvPr>
          <p:cNvSpPr/>
          <p:nvPr/>
        </p:nvSpPr>
        <p:spPr>
          <a:xfrm>
            <a:off x="10290907" y="2788578"/>
            <a:ext cx="914400" cy="9144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err="1">
              <a:solidFill>
                <a:schemeClr val="tx1"/>
              </a:solidFill>
              <a:latin typeface="+mj-lt"/>
            </a:endParaRPr>
          </a:p>
        </p:txBody>
      </p:sp>
      <p:pic>
        <p:nvPicPr>
          <p:cNvPr id="42" name="Graphic 41">
            <a:extLst>
              <a:ext uri="{FF2B5EF4-FFF2-40B4-BE49-F238E27FC236}">
                <a16:creationId xmlns:a16="http://schemas.microsoft.com/office/drawing/2014/main" id="{D0B30A52-7212-159B-D77F-B4B9AADE246C}"/>
              </a:ext>
            </a:extLst>
          </p:cNvPr>
          <p:cNvPicPr>
            <a:picLocks/>
          </p:cNvPicPr>
          <p:nvPr/>
        </p:nvPicPr>
        <p:blipFill>
          <a:blip r:embed="rId2">
            <a:extLst>
              <a:ext uri="{96DAC541-7B7A-43D3-8B79-37D633B846F1}">
                <asvg:svgBlip xmlns:asvg="http://schemas.microsoft.com/office/drawing/2016/SVG/main" r:embed="rId3"/>
              </a:ext>
            </a:extLst>
          </a:blip>
          <a:stretch>
            <a:fillRect/>
          </a:stretch>
        </p:blipFill>
        <p:spPr>
          <a:xfrm>
            <a:off x="10526382" y="3024053"/>
            <a:ext cx="443450" cy="443450"/>
          </a:xfrm>
          <a:prstGeom prst="rect">
            <a:avLst/>
          </a:prstGeom>
        </p:spPr>
      </p:pic>
      <p:pic>
        <p:nvPicPr>
          <p:cNvPr id="10" name="Picture 9">
            <a:extLst>
              <a:ext uri="{FF2B5EF4-FFF2-40B4-BE49-F238E27FC236}">
                <a16:creationId xmlns:a16="http://schemas.microsoft.com/office/drawing/2014/main" id="{6327C9BA-A491-F55A-D477-0E9243C13972}"/>
              </a:ext>
            </a:extLst>
          </p:cNvPr>
          <p:cNvPicPr>
            <a:picLocks noChangeAspect="1"/>
          </p:cNvPicPr>
          <p:nvPr/>
        </p:nvPicPr>
        <p:blipFill>
          <a:blip r:embed="rId4"/>
          <a:srcRect l="22952" t="8429" r="5733" b="33891"/>
          <a:stretch>
            <a:fillRect/>
          </a:stretch>
        </p:blipFill>
        <p:spPr>
          <a:xfrm>
            <a:off x="3302397" y="1941537"/>
            <a:ext cx="984870" cy="772583"/>
          </a:xfrm>
          <a:prstGeom prst="rect">
            <a:avLst/>
          </a:prstGeom>
        </p:spPr>
      </p:pic>
    </p:spTree>
    <p:extLst>
      <p:ext uri="{BB962C8B-B14F-4D97-AF65-F5344CB8AC3E}">
        <p14:creationId xmlns:p14="http://schemas.microsoft.com/office/powerpoint/2010/main" val="780798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F348E-74C7-12DE-B324-7B05E0E8008B}"/>
              </a:ext>
            </a:extLst>
          </p:cNvPr>
          <p:cNvSpPr>
            <a:spLocks noGrp="1"/>
          </p:cNvSpPr>
          <p:nvPr>
            <p:ph type="title"/>
          </p:nvPr>
        </p:nvSpPr>
        <p:spPr/>
        <p:txBody>
          <a:bodyPr/>
          <a:lstStyle/>
          <a:p>
            <a:r>
              <a:rPr lang="en-US" dirty="0"/>
              <a:t>In the first year from our launch, we will be able to generate SAR 16 Million in revenue through provision of instant loans for investors</a:t>
            </a:r>
          </a:p>
        </p:txBody>
      </p:sp>
      <p:sp>
        <p:nvSpPr>
          <p:cNvPr id="4" name="Text Placeholder 3">
            <a:extLst>
              <a:ext uri="{FF2B5EF4-FFF2-40B4-BE49-F238E27FC236}">
                <a16:creationId xmlns:a16="http://schemas.microsoft.com/office/drawing/2014/main" id="{38079FC1-618B-C2D1-072F-06C169381493}"/>
              </a:ext>
            </a:extLst>
          </p:cNvPr>
          <p:cNvSpPr>
            <a:spLocks noGrp="1"/>
          </p:cNvSpPr>
          <p:nvPr>
            <p:ph type="body" sz="quarter" idx="13"/>
          </p:nvPr>
        </p:nvSpPr>
        <p:spPr/>
        <p:txBody>
          <a:bodyPr/>
          <a:lstStyle/>
          <a:p>
            <a:r>
              <a:rPr lang="en-US" dirty="0"/>
              <a:t>Source: </a:t>
            </a:r>
            <a:r>
              <a:rPr lang="en-US" dirty="0" err="1"/>
              <a:t>Xlta</a:t>
            </a:r>
            <a:r>
              <a:rPr lang="en-US" dirty="0"/>
              <a:t> analysis, Saudi Exchange </a:t>
            </a:r>
            <a:r>
              <a:rPr lang="en-US" dirty="0" err="1"/>
              <a:t>Satistical</a:t>
            </a:r>
            <a:r>
              <a:rPr lang="en-US" dirty="0"/>
              <a:t> Report 2024</a:t>
            </a:r>
          </a:p>
        </p:txBody>
      </p:sp>
      <p:sp>
        <p:nvSpPr>
          <p:cNvPr id="5" name="Content Placeholder 4">
            <a:extLst>
              <a:ext uri="{FF2B5EF4-FFF2-40B4-BE49-F238E27FC236}">
                <a16:creationId xmlns:a16="http://schemas.microsoft.com/office/drawing/2014/main" id="{DC3524C9-EAC4-7E60-2DAD-E1A9467470D7}"/>
              </a:ext>
            </a:extLst>
          </p:cNvPr>
          <p:cNvSpPr>
            <a:spLocks noGrp="1"/>
          </p:cNvSpPr>
          <p:nvPr>
            <p:ph sz="quarter" idx="14"/>
          </p:nvPr>
        </p:nvSpPr>
        <p:spPr/>
        <p:txBody>
          <a:bodyPr/>
          <a:lstStyle/>
          <a:p>
            <a:r>
              <a:rPr lang="en-US" dirty="0"/>
              <a:t>Business Case</a:t>
            </a:r>
          </a:p>
        </p:txBody>
      </p:sp>
      <p:sp>
        <p:nvSpPr>
          <p:cNvPr id="20" name="Rectangle 19">
            <a:extLst>
              <a:ext uri="{FF2B5EF4-FFF2-40B4-BE49-F238E27FC236}">
                <a16:creationId xmlns:a16="http://schemas.microsoft.com/office/drawing/2014/main" id="{BE96187F-C6A5-4D69-4DCE-82682A571DAD}"/>
              </a:ext>
            </a:extLst>
          </p:cNvPr>
          <p:cNvSpPr/>
          <p:nvPr/>
        </p:nvSpPr>
        <p:spPr>
          <a:xfrm>
            <a:off x="609600" y="1492250"/>
            <a:ext cx="5303138" cy="365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mj-lt"/>
              </a:rPr>
              <a:t>Assumptions</a:t>
            </a:r>
          </a:p>
        </p:txBody>
      </p:sp>
      <p:sp>
        <p:nvSpPr>
          <p:cNvPr id="21" name="Rectangle 20">
            <a:extLst>
              <a:ext uri="{FF2B5EF4-FFF2-40B4-BE49-F238E27FC236}">
                <a16:creationId xmlns:a16="http://schemas.microsoft.com/office/drawing/2014/main" id="{FE79C200-C394-87BA-E6AA-5C15C853C31A}"/>
              </a:ext>
            </a:extLst>
          </p:cNvPr>
          <p:cNvSpPr/>
          <p:nvPr/>
        </p:nvSpPr>
        <p:spPr>
          <a:xfrm>
            <a:off x="6279262" y="1492250"/>
            <a:ext cx="5303138" cy="365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mj-lt"/>
              </a:rPr>
              <a:t>Market Size</a:t>
            </a:r>
          </a:p>
        </p:txBody>
      </p:sp>
      <p:sp>
        <p:nvSpPr>
          <p:cNvPr id="18" name="Rectangle 17">
            <a:extLst>
              <a:ext uri="{FF2B5EF4-FFF2-40B4-BE49-F238E27FC236}">
                <a16:creationId xmlns:a16="http://schemas.microsoft.com/office/drawing/2014/main" id="{0D284234-6B7B-86E3-495E-9BF478DBC41B}"/>
              </a:ext>
            </a:extLst>
          </p:cNvPr>
          <p:cNvSpPr/>
          <p:nvPr/>
        </p:nvSpPr>
        <p:spPr>
          <a:xfrm>
            <a:off x="609600" y="2043651"/>
            <a:ext cx="5280646" cy="928883"/>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i="1" dirty="0">
                <a:solidFill>
                  <a:schemeClr val="tx1"/>
                </a:solidFill>
                <a:latin typeface="+mj-lt"/>
              </a:rPr>
              <a:t>Total Addressable Market (TAM)</a:t>
            </a:r>
          </a:p>
          <a:p>
            <a:pPr marL="285750" indent="-285750">
              <a:buFont typeface="Arial" panose="020B0604020202020204" pitchFamily="34" charset="0"/>
              <a:buChar char="ꟷ"/>
            </a:pPr>
            <a:r>
              <a:rPr lang="en-US" sz="1400" dirty="0">
                <a:solidFill>
                  <a:schemeClr val="tx1"/>
                </a:solidFill>
                <a:latin typeface="+mj-lt"/>
              </a:rPr>
              <a:t>Tadawul total traded value ≈ SAR 5.3 trillion</a:t>
            </a:r>
          </a:p>
          <a:p>
            <a:pPr marL="285750" indent="-285750">
              <a:buFont typeface="Arial" panose="020B0604020202020204" pitchFamily="34" charset="0"/>
              <a:buChar char="ꟷ"/>
            </a:pPr>
            <a:r>
              <a:rPr lang="en-US" sz="1400" dirty="0">
                <a:solidFill>
                  <a:schemeClr val="tx1"/>
                </a:solidFill>
                <a:latin typeface="+mj-lt"/>
              </a:rPr>
              <a:t>Retail investors account for roughly 30 of turnover ≈ SAR ~1.6–1.8 trillion annually</a:t>
            </a:r>
          </a:p>
        </p:txBody>
      </p:sp>
      <p:sp>
        <p:nvSpPr>
          <p:cNvPr id="19" name="Oval 18">
            <a:extLst>
              <a:ext uri="{FF2B5EF4-FFF2-40B4-BE49-F238E27FC236}">
                <a16:creationId xmlns:a16="http://schemas.microsoft.com/office/drawing/2014/main" id="{463AB638-F0AC-8C3D-344D-B32F15B82986}"/>
              </a:ext>
            </a:extLst>
          </p:cNvPr>
          <p:cNvSpPr/>
          <p:nvPr/>
        </p:nvSpPr>
        <p:spPr>
          <a:xfrm>
            <a:off x="6896408" y="2016761"/>
            <a:ext cx="4068847" cy="3421828"/>
          </a:xfrm>
          <a:prstGeom prst="ellipse">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latin typeface="+mj-lt"/>
            </a:endParaRPr>
          </a:p>
        </p:txBody>
      </p:sp>
      <p:sp>
        <p:nvSpPr>
          <p:cNvPr id="22" name="Rectangle 21">
            <a:extLst>
              <a:ext uri="{FF2B5EF4-FFF2-40B4-BE49-F238E27FC236}">
                <a16:creationId xmlns:a16="http://schemas.microsoft.com/office/drawing/2014/main" id="{B19F3782-E7E5-7FD3-28C8-94165118E2BD}"/>
              </a:ext>
            </a:extLst>
          </p:cNvPr>
          <p:cNvSpPr/>
          <p:nvPr/>
        </p:nvSpPr>
        <p:spPr>
          <a:xfrm>
            <a:off x="8105100" y="2097516"/>
            <a:ext cx="1651461" cy="3844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mj-lt"/>
              </a:rPr>
              <a:t>SAR 1.7 Trillion</a:t>
            </a:r>
          </a:p>
        </p:txBody>
      </p:sp>
      <p:cxnSp>
        <p:nvCxnSpPr>
          <p:cNvPr id="23" name="Straight Connector 22">
            <a:extLst>
              <a:ext uri="{FF2B5EF4-FFF2-40B4-BE49-F238E27FC236}">
                <a16:creationId xmlns:a16="http://schemas.microsoft.com/office/drawing/2014/main" id="{EBA4C62C-BF81-412F-0360-1FCED98D1F8A}"/>
              </a:ext>
            </a:extLst>
          </p:cNvPr>
          <p:cNvCxnSpPr>
            <a:stCxn id="18" idx="3"/>
            <a:endCxn id="19" idx="1"/>
          </p:cNvCxnSpPr>
          <p:nvPr/>
        </p:nvCxnSpPr>
        <p:spPr>
          <a:xfrm>
            <a:off x="5890246" y="2508092"/>
            <a:ext cx="1602031" cy="9784"/>
          </a:xfrm>
          <a:prstGeom prst="line">
            <a:avLst/>
          </a:prstGeom>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3DF66ECB-CDB2-779D-A4FD-9D3A7DBB14D6}"/>
              </a:ext>
            </a:extLst>
          </p:cNvPr>
          <p:cNvSpPr/>
          <p:nvPr/>
        </p:nvSpPr>
        <p:spPr>
          <a:xfrm>
            <a:off x="609600" y="3267344"/>
            <a:ext cx="5280646" cy="928883"/>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i="1" dirty="0">
                <a:solidFill>
                  <a:schemeClr val="tx1"/>
                </a:solidFill>
                <a:latin typeface="+mj-lt"/>
              </a:rPr>
              <a:t>Serviceable Addressable Market (SAM)</a:t>
            </a:r>
          </a:p>
          <a:p>
            <a:r>
              <a:rPr lang="en-US" sz="1400" dirty="0">
                <a:solidFill>
                  <a:schemeClr val="tx1"/>
                </a:solidFill>
                <a:latin typeface="+mj-lt"/>
              </a:rPr>
              <a:t>We assume that 15% of the retail investors would be interested in receiving </a:t>
            </a:r>
            <a:r>
              <a:rPr lang="en-US" sz="1400" dirty="0" err="1">
                <a:solidFill>
                  <a:schemeClr val="tx1"/>
                </a:solidFill>
                <a:latin typeface="+mj-lt"/>
              </a:rPr>
              <a:t>Xlta</a:t>
            </a:r>
            <a:r>
              <a:rPr lang="en-US" sz="1400" dirty="0">
                <a:solidFill>
                  <a:schemeClr val="tx1"/>
                </a:solidFill>
                <a:latin typeface="+mj-lt"/>
              </a:rPr>
              <a:t> service</a:t>
            </a:r>
          </a:p>
        </p:txBody>
      </p:sp>
      <p:sp>
        <p:nvSpPr>
          <p:cNvPr id="25" name="Rectangle 24">
            <a:extLst>
              <a:ext uri="{FF2B5EF4-FFF2-40B4-BE49-F238E27FC236}">
                <a16:creationId xmlns:a16="http://schemas.microsoft.com/office/drawing/2014/main" id="{1C3B672E-6E1B-EE14-18A4-1C79EA2835E4}"/>
              </a:ext>
            </a:extLst>
          </p:cNvPr>
          <p:cNvSpPr/>
          <p:nvPr/>
        </p:nvSpPr>
        <p:spPr>
          <a:xfrm>
            <a:off x="609600" y="4491038"/>
            <a:ext cx="5280646" cy="928883"/>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i="1" dirty="0">
                <a:solidFill>
                  <a:schemeClr val="tx1"/>
                </a:solidFill>
                <a:latin typeface="+mj-lt"/>
              </a:rPr>
              <a:t>Serviceable Obtainable Market (SOM)</a:t>
            </a:r>
            <a:endParaRPr lang="en-US" sz="1400" dirty="0">
              <a:solidFill>
                <a:schemeClr val="tx1"/>
              </a:solidFill>
              <a:latin typeface="+mj-lt"/>
            </a:endParaRPr>
          </a:p>
          <a:p>
            <a:r>
              <a:rPr lang="en-US" sz="1400" dirty="0">
                <a:solidFill>
                  <a:schemeClr val="tx1"/>
                </a:solidFill>
                <a:latin typeface="+mj-lt"/>
              </a:rPr>
              <a:t>We assume we will be able to take 1% of the </a:t>
            </a:r>
            <a:r>
              <a:rPr lang="en-US" sz="1400" dirty="0" err="1">
                <a:solidFill>
                  <a:schemeClr val="tx1"/>
                </a:solidFill>
                <a:latin typeface="+mj-lt"/>
              </a:rPr>
              <a:t>the</a:t>
            </a:r>
            <a:r>
              <a:rPr lang="en-US" sz="1400" dirty="0">
                <a:solidFill>
                  <a:schemeClr val="tx1"/>
                </a:solidFill>
                <a:latin typeface="+mj-lt"/>
              </a:rPr>
              <a:t> SAM for the first year</a:t>
            </a:r>
          </a:p>
        </p:txBody>
      </p:sp>
      <p:cxnSp>
        <p:nvCxnSpPr>
          <p:cNvPr id="26" name="Straight Connector 25">
            <a:extLst>
              <a:ext uri="{FF2B5EF4-FFF2-40B4-BE49-F238E27FC236}">
                <a16:creationId xmlns:a16="http://schemas.microsoft.com/office/drawing/2014/main" id="{8F1FCF33-6E92-73AB-5B96-52A89614478D}"/>
              </a:ext>
            </a:extLst>
          </p:cNvPr>
          <p:cNvCxnSpPr>
            <a:cxnSpLocks/>
            <a:stCxn id="24" idx="3"/>
          </p:cNvCxnSpPr>
          <p:nvPr/>
        </p:nvCxnSpPr>
        <p:spPr>
          <a:xfrm>
            <a:off x="5890246" y="3731785"/>
            <a:ext cx="1716402" cy="0"/>
          </a:xfrm>
          <a:prstGeom prst="line">
            <a:avLst/>
          </a:prstGeom>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5CA7566D-BDD6-BC72-F043-32384A33E616}"/>
              </a:ext>
            </a:extLst>
          </p:cNvPr>
          <p:cNvSpPr/>
          <p:nvPr/>
        </p:nvSpPr>
        <p:spPr>
          <a:xfrm>
            <a:off x="7217633" y="2520235"/>
            <a:ext cx="3470173" cy="2918354"/>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latin typeface="+mj-lt"/>
            </a:endParaRPr>
          </a:p>
        </p:txBody>
      </p:sp>
      <p:sp>
        <p:nvSpPr>
          <p:cNvPr id="28" name="Rectangle 27">
            <a:extLst>
              <a:ext uri="{FF2B5EF4-FFF2-40B4-BE49-F238E27FC236}">
                <a16:creationId xmlns:a16="http://schemas.microsoft.com/office/drawing/2014/main" id="{B76310DD-8089-3C1F-8C10-550CA7DC7058}"/>
              </a:ext>
            </a:extLst>
          </p:cNvPr>
          <p:cNvSpPr/>
          <p:nvPr/>
        </p:nvSpPr>
        <p:spPr>
          <a:xfrm>
            <a:off x="8105100" y="2696275"/>
            <a:ext cx="1651461" cy="3844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mj-lt"/>
              </a:rPr>
              <a:t>SAR 83 Billion</a:t>
            </a:r>
          </a:p>
        </p:txBody>
      </p:sp>
      <p:cxnSp>
        <p:nvCxnSpPr>
          <p:cNvPr id="29" name="Straight Connector 28">
            <a:extLst>
              <a:ext uri="{FF2B5EF4-FFF2-40B4-BE49-F238E27FC236}">
                <a16:creationId xmlns:a16="http://schemas.microsoft.com/office/drawing/2014/main" id="{A6943A33-BC18-FC94-7DFD-2B75480728B7}"/>
              </a:ext>
            </a:extLst>
          </p:cNvPr>
          <p:cNvCxnSpPr>
            <a:cxnSpLocks/>
            <a:stCxn id="25" idx="3"/>
          </p:cNvCxnSpPr>
          <p:nvPr/>
        </p:nvCxnSpPr>
        <p:spPr>
          <a:xfrm>
            <a:off x="5890246" y="4955479"/>
            <a:ext cx="2153138" cy="0"/>
          </a:xfrm>
          <a:prstGeom prst="line">
            <a:avLst/>
          </a:prstGeom>
        </p:spPr>
        <p:style>
          <a:lnRef idx="2">
            <a:schemeClr val="accent1"/>
          </a:lnRef>
          <a:fillRef idx="0">
            <a:schemeClr val="accent1"/>
          </a:fillRef>
          <a:effectRef idx="1">
            <a:schemeClr val="accent1"/>
          </a:effectRef>
          <a:fontRef idx="minor">
            <a:schemeClr val="tx1"/>
          </a:fontRef>
        </p:style>
      </p:cxnSp>
      <p:sp>
        <p:nvSpPr>
          <p:cNvPr id="30" name="Oval 29">
            <a:extLst>
              <a:ext uri="{FF2B5EF4-FFF2-40B4-BE49-F238E27FC236}">
                <a16:creationId xmlns:a16="http://schemas.microsoft.com/office/drawing/2014/main" id="{8B3B7011-F924-5996-9716-5FC53FC8E230}"/>
              </a:ext>
            </a:extLst>
          </p:cNvPr>
          <p:cNvSpPr/>
          <p:nvPr/>
        </p:nvSpPr>
        <p:spPr>
          <a:xfrm>
            <a:off x="7606648" y="3118994"/>
            <a:ext cx="2692142" cy="2264044"/>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latin typeface="+mj-lt"/>
            </a:endParaRPr>
          </a:p>
        </p:txBody>
      </p:sp>
      <p:sp>
        <p:nvSpPr>
          <p:cNvPr id="31" name="Rectangle 30">
            <a:extLst>
              <a:ext uri="{FF2B5EF4-FFF2-40B4-BE49-F238E27FC236}">
                <a16:creationId xmlns:a16="http://schemas.microsoft.com/office/drawing/2014/main" id="{85962E2D-E8FD-79DE-1E00-1DB67008394B}"/>
              </a:ext>
            </a:extLst>
          </p:cNvPr>
          <p:cNvSpPr/>
          <p:nvPr/>
        </p:nvSpPr>
        <p:spPr>
          <a:xfrm>
            <a:off x="8105100" y="4019876"/>
            <a:ext cx="1651461" cy="38449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mj-lt"/>
              </a:rPr>
              <a:t>SAR 838 Million</a:t>
            </a:r>
          </a:p>
        </p:txBody>
      </p:sp>
      <p:sp>
        <p:nvSpPr>
          <p:cNvPr id="6" name="Rectangle 5">
            <a:extLst>
              <a:ext uri="{FF2B5EF4-FFF2-40B4-BE49-F238E27FC236}">
                <a16:creationId xmlns:a16="http://schemas.microsoft.com/office/drawing/2014/main" id="{25E109D1-F591-A758-75B6-899FB963C1C1}"/>
              </a:ext>
            </a:extLst>
          </p:cNvPr>
          <p:cNvSpPr/>
          <p:nvPr/>
        </p:nvSpPr>
        <p:spPr>
          <a:xfrm>
            <a:off x="609600" y="5555637"/>
            <a:ext cx="10972800" cy="63999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i="1" dirty="0">
                <a:solidFill>
                  <a:schemeClr val="bg1"/>
                </a:solidFill>
                <a:latin typeface="+mj-lt"/>
              </a:rPr>
              <a:t>If we charge 2% on the Riyal, we will be able to make SAR 16 Million in revenue in the first year</a:t>
            </a:r>
          </a:p>
        </p:txBody>
      </p:sp>
    </p:spTree>
    <p:extLst>
      <p:ext uri="{BB962C8B-B14F-4D97-AF65-F5344CB8AC3E}">
        <p14:creationId xmlns:p14="http://schemas.microsoft.com/office/powerpoint/2010/main" val="3691439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810E6-CDF6-983B-50EF-9647BB4316DD}"/>
              </a:ext>
            </a:extLst>
          </p:cNvPr>
          <p:cNvSpPr>
            <a:spLocks noGrp="1"/>
          </p:cNvSpPr>
          <p:nvPr>
            <p:ph type="title"/>
          </p:nvPr>
        </p:nvSpPr>
        <p:spPr/>
        <p:txBody>
          <a:bodyPr/>
          <a:lstStyle/>
          <a:p>
            <a:r>
              <a:rPr lang="en-US" dirty="0"/>
              <a:t>We will deliver our solution over 12-week period where we will build fund pools, loan provision process, and driving promotion to clients</a:t>
            </a:r>
          </a:p>
        </p:txBody>
      </p:sp>
      <p:sp>
        <p:nvSpPr>
          <p:cNvPr id="4" name="Text Placeholder 3">
            <a:extLst>
              <a:ext uri="{FF2B5EF4-FFF2-40B4-BE49-F238E27FC236}">
                <a16:creationId xmlns:a16="http://schemas.microsoft.com/office/drawing/2014/main" id="{F90F766D-473C-2D7F-4B60-705B607874EE}"/>
              </a:ext>
            </a:extLst>
          </p:cNvPr>
          <p:cNvSpPr>
            <a:spLocks noGrp="1"/>
          </p:cNvSpPr>
          <p:nvPr>
            <p:ph type="body" sz="quarter" idx="13"/>
          </p:nvPr>
        </p:nvSpPr>
        <p:spPr/>
        <p:txBody>
          <a:bodyPr/>
          <a:lstStyle/>
          <a:p>
            <a:r>
              <a:rPr lang="en-US" dirty="0"/>
              <a:t>Source: </a:t>
            </a:r>
            <a:r>
              <a:rPr lang="en-US" dirty="0" err="1"/>
              <a:t>Xlta</a:t>
            </a:r>
            <a:r>
              <a:rPr lang="en-US" dirty="0"/>
              <a:t> analysis</a:t>
            </a:r>
          </a:p>
        </p:txBody>
      </p:sp>
      <p:graphicFrame>
        <p:nvGraphicFramePr>
          <p:cNvPr id="6" name="Content Placeholder 5">
            <a:extLst>
              <a:ext uri="{FF2B5EF4-FFF2-40B4-BE49-F238E27FC236}">
                <a16:creationId xmlns:a16="http://schemas.microsoft.com/office/drawing/2014/main" id="{87F445FC-0D5B-8EC7-81F6-0328C8D1FF2F}"/>
              </a:ext>
            </a:extLst>
          </p:cNvPr>
          <p:cNvGraphicFramePr>
            <a:graphicFrameLocks noGrp="1"/>
          </p:cNvGraphicFramePr>
          <p:nvPr>
            <p:ph sz="quarter" idx="14"/>
            <p:extLst>
              <p:ext uri="{D42A27DB-BD31-4B8C-83A1-F6EECF244321}">
                <p14:modId xmlns:p14="http://schemas.microsoft.com/office/powerpoint/2010/main" val="114783930"/>
              </p:ext>
            </p:extLst>
          </p:nvPr>
        </p:nvGraphicFramePr>
        <p:xfrm>
          <a:off x="609600" y="1492250"/>
          <a:ext cx="10972801" cy="4679952"/>
        </p:xfrm>
        <a:graphic>
          <a:graphicData uri="http://schemas.openxmlformats.org/drawingml/2006/table">
            <a:tbl>
              <a:tblPr>
                <a:tableStyleId>{5C22544A-7EE6-4342-B048-85BDC9FD1C3A}</a:tableStyleId>
              </a:tblPr>
              <a:tblGrid>
                <a:gridCol w="2133600">
                  <a:extLst>
                    <a:ext uri="{9D8B030D-6E8A-4147-A177-3AD203B41FA5}">
                      <a16:colId xmlns:a16="http://schemas.microsoft.com/office/drawing/2014/main" val="1772157169"/>
                    </a:ext>
                  </a:extLst>
                </a:gridCol>
                <a:gridCol w="2315029">
                  <a:extLst>
                    <a:ext uri="{9D8B030D-6E8A-4147-A177-3AD203B41FA5}">
                      <a16:colId xmlns:a16="http://schemas.microsoft.com/office/drawing/2014/main" val="1776413510"/>
                    </a:ext>
                  </a:extLst>
                </a:gridCol>
                <a:gridCol w="543681">
                  <a:extLst>
                    <a:ext uri="{9D8B030D-6E8A-4147-A177-3AD203B41FA5}">
                      <a16:colId xmlns:a16="http://schemas.microsoft.com/office/drawing/2014/main" val="4034522547"/>
                    </a:ext>
                  </a:extLst>
                </a:gridCol>
                <a:gridCol w="543681">
                  <a:extLst>
                    <a:ext uri="{9D8B030D-6E8A-4147-A177-3AD203B41FA5}">
                      <a16:colId xmlns:a16="http://schemas.microsoft.com/office/drawing/2014/main" val="4046409292"/>
                    </a:ext>
                  </a:extLst>
                </a:gridCol>
                <a:gridCol w="543681">
                  <a:extLst>
                    <a:ext uri="{9D8B030D-6E8A-4147-A177-3AD203B41FA5}">
                      <a16:colId xmlns:a16="http://schemas.microsoft.com/office/drawing/2014/main" val="2575060121"/>
                    </a:ext>
                  </a:extLst>
                </a:gridCol>
                <a:gridCol w="543681">
                  <a:extLst>
                    <a:ext uri="{9D8B030D-6E8A-4147-A177-3AD203B41FA5}">
                      <a16:colId xmlns:a16="http://schemas.microsoft.com/office/drawing/2014/main" val="3740055104"/>
                    </a:ext>
                  </a:extLst>
                </a:gridCol>
                <a:gridCol w="543681">
                  <a:extLst>
                    <a:ext uri="{9D8B030D-6E8A-4147-A177-3AD203B41FA5}">
                      <a16:colId xmlns:a16="http://schemas.microsoft.com/office/drawing/2014/main" val="3252358514"/>
                    </a:ext>
                  </a:extLst>
                </a:gridCol>
                <a:gridCol w="543681">
                  <a:extLst>
                    <a:ext uri="{9D8B030D-6E8A-4147-A177-3AD203B41FA5}">
                      <a16:colId xmlns:a16="http://schemas.microsoft.com/office/drawing/2014/main" val="134203477"/>
                    </a:ext>
                  </a:extLst>
                </a:gridCol>
                <a:gridCol w="543681">
                  <a:extLst>
                    <a:ext uri="{9D8B030D-6E8A-4147-A177-3AD203B41FA5}">
                      <a16:colId xmlns:a16="http://schemas.microsoft.com/office/drawing/2014/main" val="510118063"/>
                    </a:ext>
                  </a:extLst>
                </a:gridCol>
                <a:gridCol w="543681">
                  <a:extLst>
                    <a:ext uri="{9D8B030D-6E8A-4147-A177-3AD203B41FA5}">
                      <a16:colId xmlns:a16="http://schemas.microsoft.com/office/drawing/2014/main" val="1252055697"/>
                    </a:ext>
                  </a:extLst>
                </a:gridCol>
                <a:gridCol w="543681">
                  <a:extLst>
                    <a:ext uri="{9D8B030D-6E8A-4147-A177-3AD203B41FA5}">
                      <a16:colId xmlns:a16="http://schemas.microsoft.com/office/drawing/2014/main" val="2072318510"/>
                    </a:ext>
                  </a:extLst>
                </a:gridCol>
                <a:gridCol w="543681">
                  <a:extLst>
                    <a:ext uri="{9D8B030D-6E8A-4147-A177-3AD203B41FA5}">
                      <a16:colId xmlns:a16="http://schemas.microsoft.com/office/drawing/2014/main" val="1529998596"/>
                    </a:ext>
                  </a:extLst>
                </a:gridCol>
                <a:gridCol w="543681">
                  <a:extLst>
                    <a:ext uri="{9D8B030D-6E8A-4147-A177-3AD203B41FA5}">
                      <a16:colId xmlns:a16="http://schemas.microsoft.com/office/drawing/2014/main" val="3014077156"/>
                    </a:ext>
                  </a:extLst>
                </a:gridCol>
                <a:gridCol w="543681">
                  <a:extLst>
                    <a:ext uri="{9D8B030D-6E8A-4147-A177-3AD203B41FA5}">
                      <a16:colId xmlns:a16="http://schemas.microsoft.com/office/drawing/2014/main" val="1539270042"/>
                    </a:ext>
                  </a:extLst>
                </a:gridCol>
              </a:tblGrid>
              <a:tr h="389996">
                <a:tc>
                  <a:txBody>
                    <a:bodyPr/>
                    <a:lstStyle/>
                    <a:p>
                      <a:pPr algn="l" fontAlgn="b">
                        <a:buNone/>
                      </a:pPr>
                      <a:r>
                        <a:rPr lang="en-US" sz="1400" b="1" u="none" strike="noStrike" dirty="0">
                          <a:effectLst/>
                          <a:latin typeface="+mj-lt"/>
                        </a:rPr>
                        <a:t>#. Step</a:t>
                      </a:r>
                      <a:endParaRPr lang="en-US" sz="1400" b="1" i="0" u="none" strike="noStrike" dirty="0">
                        <a:solidFill>
                          <a:srgbClr val="000000"/>
                        </a:solidFill>
                        <a:effectLst/>
                        <a:latin typeface="+mj-lt"/>
                      </a:endParaRPr>
                    </a:p>
                  </a:txBody>
                  <a:tcPr marL="564" marR="564" marT="564" marB="0" anchor="ctr">
                    <a:lnB w="12700" cap="flat" cmpd="sng" algn="ctr">
                      <a:solidFill>
                        <a:schemeClr val="accent1"/>
                      </a:solidFill>
                      <a:prstDash val="solid"/>
                      <a:round/>
                      <a:headEnd type="none" w="med" len="med"/>
                      <a:tailEnd type="none" w="med" len="med"/>
                    </a:lnB>
                    <a:noFill/>
                  </a:tcPr>
                </a:tc>
                <a:tc>
                  <a:txBody>
                    <a:bodyPr/>
                    <a:lstStyle/>
                    <a:p>
                      <a:pPr algn="l" fontAlgn="b">
                        <a:buNone/>
                      </a:pPr>
                      <a:r>
                        <a:rPr lang="en-US" sz="1400" b="1" i="0" u="none" strike="noStrike" dirty="0">
                          <a:solidFill>
                            <a:srgbClr val="000000"/>
                          </a:solidFill>
                          <a:effectLst/>
                          <a:latin typeface="+mj-lt"/>
                        </a:rPr>
                        <a:t>Description</a:t>
                      </a:r>
                    </a:p>
                  </a:txBody>
                  <a:tcPr marL="564" marR="564" marT="564" marB="0" anchor="ctr">
                    <a:lnB w="12700" cap="flat" cmpd="sng" algn="ctr">
                      <a:solidFill>
                        <a:schemeClr val="accent1"/>
                      </a:solidFill>
                      <a:prstDash val="solid"/>
                      <a:round/>
                      <a:headEnd type="none" w="med" len="med"/>
                      <a:tailEnd type="none" w="med" len="med"/>
                    </a:lnB>
                    <a:noFill/>
                  </a:tcPr>
                </a:tc>
                <a:tc>
                  <a:txBody>
                    <a:bodyPr/>
                    <a:lstStyle/>
                    <a:p>
                      <a:pPr algn="l" fontAlgn="b">
                        <a:buNone/>
                      </a:pPr>
                      <a:r>
                        <a:rPr lang="en-US" sz="1400" b="1" u="none" strike="noStrike" dirty="0">
                          <a:effectLst/>
                          <a:latin typeface="+mj-lt"/>
                        </a:rPr>
                        <a:t>Wk1</a:t>
                      </a:r>
                      <a:endParaRPr lang="en-US" sz="1400" b="1" i="1" u="none" strike="noStrike" dirty="0">
                        <a:solidFill>
                          <a:srgbClr val="000000"/>
                        </a:solidFill>
                        <a:effectLst/>
                        <a:latin typeface="+mj-lt"/>
                      </a:endParaRPr>
                    </a:p>
                  </a:txBody>
                  <a:tcPr marL="564" marR="564" marT="564" marB="0" anchor="ctr">
                    <a:lnB w="12700" cap="flat" cmpd="sng" algn="ctr">
                      <a:solidFill>
                        <a:schemeClr val="accent1"/>
                      </a:solidFill>
                      <a:prstDash val="solid"/>
                      <a:round/>
                      <a:headEnd type="none" w="med" len="med"/>
                      <a:tailEnd type="none" w="med" len="med"/>
                    </a:lnB>
                    <a:noFill/>
                  </a:tcPr>
                </a:tc>
                <a:tc>
                  <a:txBody>
                    <a:bodyPr/>
                    <a:lstStyle/>
                    <a:p>
                      <a:pPr algn="l" fontAlgn="b">
                        <a:buNone/>
                      </a:pPr>
                      <a:r>
                        <a:rPr lang="en-US" sz="1400" b="1" u="none" strike="noStrike" dirty="0">
                          <a:effectLst/>
                          <a:latin typeface="+mj-lt"/>
                        </a:rPr>
                        <a:t>Wk2</a:t>
                      </a:r>
                      <a:endParaRPr lang="en-US" sz="1400" b="1" i="1" u="none" strike="noStrike" dirty="0">
                        <a:solidFill>
                          <a:srgbClr val="000000"/>
                        </a:solidFill>
                        <a:effectLst/>
                        <a:latin typeface="+mj-lt"/>
                      </a:endParaRPr>
                    </a:p>
                  </a:txBody>
                  <a:tcPr marL="564" marR="564" marT="564" marB="0" anchor="ctr">
                    <a:lnB w="12700" cap="flat" cmpd="sng" algn="ctr">
                      <a:solidFill>
                        <a:schemeClr val="accent1"/>
                      </a:solidFill>
                      <a:prstDash val="solid"/>
                      <a:round/>
                      <a:headEnd type="none" w="med" len="med"/>
                      <a:tailEnd type="none" w="med" len="med"/>
                    </a:lnB>
                    <a:noFill/>
                  </a:tcPr>
                </a:tc>
                <a:tc>
                  <a:txBody>
                    <a:bodyPr/>
                    <a:lstStyle/>
                    <a:p>
                      <a:pPr algn="l" fontAlgn="b">
                        <a:buNone/>
                      </a:pPr>
                      <a:r>
                        <a:rPr lang="en-US" sz="1400" b="1" u="none" strike="noStrike" dirty="0">
                          <a:effectLst/>
                          <a:latin typeface="+mj-lt"/>
                        </a:rPr>
                        <a:t>Wk3</a:t>
                      </a:r>
                      <a:endParaRPr lang="en-US" sz="1400" b="1" i="1" u="none" strike="noStrike" dirty="0">
                        <a:solidFill>
                          <a:srgbClr val="000000"/>
                        </a:solidFill>
                        <a:effectLst/>
                        <a:latin typeface="+mj-lt"/>
                      </a:endParaRPr>
                    </a:p>
                  </a:txBody>
                  <a:tcPr marL="564" marR="564" marT="564" marB="0" anchor="ctr">
                    <a:lnB w="12700" cap="flat" cmpd="sng" algn="ctr">
                      <a:solidFill>
                        <a:schemeClr val="accent1"/>
                      </a:solidFill>
                      <a:prstDash val="solid"/>
                      <a:round/>
                      <a:headEnd type="none" w="med" len="med"/>
                      <a:tailEnd type="none" w="med" len="med"/>
                    </a:lnB>
                    <a:noFill/>
                  </a:tcPr>
                </a:tc>
                <a:tc>
                  <a:txBody>
                    <a:bodyPr/>
                    <a:lstStyle/>
                    <a:p>
                      <a:pPr algn="l" fontAlgn="b">
                        <a:buNone/>
                      </a:pPr>
                      <a:r>
                        <a:rPr lang="en-US" sz="1400" b="1" u="none" strike="noStrike" dirty="0">
                          <a:effectLst/>
                          <a:latin typeface="+mj-lt"/>
                        </a:rPr>
                        <a:t>Wk4</a:t>
                      </a:r>
                      <a:endParaRPr lang="en-US" sz="1400" b="1" i="1" u="none" strike="noStrike" dirty="0">
                        <a:solidFill>
                          <a:srgbClr val="000000"/>
                        </a:solidFill>
                        <a:effectLst/>
                        <a:latin typeface="+mj-lt"/>
                      </a:endParaRPr>
                    </a:p>
                  </a:txBody>
                  <a:tcPr marL="564" marR="564" marT="564" marB="0" anchor="ctr">
                    <a:lnB w="12700" cap="flat" cmpd="sng" algn="ctr">
                      <a:solidFill>
                        <a:schemeClr val="accent1"/>
                      </a:solidFill>
                      <a:prstDash val="solid"/>
                      <a:round/>
                      <a:headEnd type="none" w="med" len="med"/>
                      <a:tailEnd type="none" w="med" len="med"/>
                    </a:lnB>
                    <a:noFill/>
                  </a:tcPr>
                </a:tc>
                <a:tc>
                  <a:txBody>
                    <a:bodyPr/>
                    <a:lstStyle/>
                    <a:p>
                      <a:pPr algn="l" fontAlgn="b">
                        <a:buNone/>
                      </a:pPr>
                      <a:r>
                        <a:rPr lang="en-US" sz="1400" b="1" u="none" strike="noStrike" dirty="0">
                          <a:effectLst/>
                          <a:latin typeface="+mj-lt"/>
                        </a:rPr>
                        <a:t>Wk5</a:t>
                      </a:r>
                      <a:endParaRPr lang="en-US" sz="1400" b="1" i="1" u="none" strike="noStrike" dirty="0">
                        <a:solidFill>
                          <a:srgbClr val="000000"/>
                        </a:solidFill>
                        <a:effectLst/>
                        <a:latin typeface="+mj-lt"/>
                      </a:endParaRPr>
                    </a:p>
                  </a:txBody>
                  <a:tcPr marL="564" marR="564" marT="564" marB="0" anchor="ctr">
                    <a:lnB w="12700" cap="flat" cmpd="sng" algn="ctr">
                      <a:solidFill>
                        <a:schemeClr val="accent1"/>
                      </a:solidFill>
                      <a:prstDash val="solid"/>
                      <a:round/>
                      <a:headEnd type="none" w="med" len="med"/>
                      <a:tailEnd type="none" w="med" len="med"/>
                    </a:lnB>
                    <a:noFill/>
                  </a:tcPr>
                </a:tc>
                <a:tc>
                  <a:txBody>
                    <a:bodyPr/>
                    <a:lstStyle/>
                    <a:p>
                      <a:pPr algn="l" fontAlgn="b">
                        <a:buNone/>
                      </a:pPr>
                      <a:r>
                        <a:rPr lang="en-US" sz="1400" b="1" u="none" strike="noStrike" dirty="0">
                          <a:effectLst/>
                          <a:latin typeface="+mj-lt"/>
                        </a:rPr>
                        <a:t>Wk6</a:t>
                      </a:r>
                      <a:endParaRPr lang="en-US" sz="1400" b="1" i="1" u="none" strike="noStrike" dirty="0">
                        <a:solidFill>
                          <a:srgbClr val="000000"/>
                        </a:solidFill>
                        <a:effectLst/>
                        <a:latin typeface="+mj-lt"/>
                      </a:endParaRPr>
                    </a:p>
                  </a:txBody>
                  <a:tcPr marL="564" marR="564" marT="564" marB="0" anchor="ctr">
                    <a:lnB w="12700" cap="flat" cmpd="sng" algn="ctr">
                      <a:solidFill>
                        <a:schemeClr val="accent1"/>
                      </a:solidFill>
                      <a:prstDash val="solid"/>
                      <a:round/>
                      <a:headEnd type="none" w="med" len="med"/>
                      <a:tailEnd type="none" w="med" len="med"/>
                    </a:lnB>
                    <a:noFill/>
                  </a:tcPr>
                </a:tc>
                <a:tc>
                  <a:txBody>
                    <a:bodyPr/>
                    <a:lstStyle/>
                    <a:p>
                      <a:pPr algn="l" fontAlgn="b">
                        <a:buNone/>
                      </a:pPr>
                      <a:r>
                        <a:rPr lang="en-US" sz="1400" b="1" u="none" strike="noStrike" dirty="0">
                          <a:effectLst/>
                          <a:latin typeface="+mj-lt"/>
                        </a:rPr>
                        <a:t>Wk7</a:t>
                      </a:r>
                      <a:endParaRPr lang="en-US" sz="1400" b="1" i="1" u="none" strike="noStrike" dirty="0">
                        <a:solidFill>
                          <a:srgbClr val="000000"/>
                        </a:solidFill>
                        <a:effectLst/>
                        <a:latin typeface="+mj-lt"/>
                      </a:endParaRPr>
                    </a:p>
                  </a:txBody>
                  <a:tcPr marL="564" marR="564" marT="564" marB="0" anchor="ctr">
                    <a:lnB w="12700" cap="flat" cmpd="sng" algn="ctr">
                      <a:solidFill>
                        <a:schemeClr val="accent1"/>
                      </a:solidFill>
                      <a:prstDash val="solid"/>
                      <a:round/>
                      <a:headEnd type="none" w="med" len="med"/>
                      <a:tailEnd type="none" w="med" len="med"/>
                    </a:lnB>
                    <a:noFill/>
                  </a:tcPr>
                </a:tc>
                <a:tc>
                  <a:txBody>
                    <a:bodyPr/>
                    <a:lstStyle/>
                    <a:p>
                      <a:pPr algn="l" fontAlgn="b">
                        <a:buNone/>
                      </a:pPr>
                      <a:r>
                        <a:rPr lang="en-US" sz="1400" b="1" u="none" strike="noStrike" dirty="0">
                          <a:effectLst/>
                          <a:latin typeface="+mj-lt"/>
                        </a:rPr>
                        <a:t>Wk8</a:t>
                      </a:r>
                      <a:endParaRPr lang="en-US" sz="1400" b="1" i="1" u="none" strike="noStrike" dirty="0">
                        <a:solidFill>
                          <a:srgbClr val="000000"/>
                        </a:solidFill>
                        <a:effectLst/>
                        <a:latin typeface="+mj-lt"/>
                      </a:endParaRPr>
                    </a:p>
                  </a:txBody>
                  <a:tcPr marL="564" marR="564" marT="564" marB="0" anchor="ctr">
                    <a:lnB w="12700" cap="flat" cmpd="sng" algn="ctr">
                      <a:solidFill>
                        <a:schemeClr val="accent1"/>
                      </a:solidFill>
                      <a:prstDash val="solid"/>
                      <a:round/>
                      <a:headEnd type="none" w="med" len="med"/>
                      <a:tailEnd type="none" w="med" len="med"/>
                    </a:lnB>
                    <a:noFill/>
                  </a:tcPr>
                </a:tc>
                <a:tc>
                  <a:txBody>
                    <a:bodyPr/>
                    <a:lstStyle/>
                    <a:p>
                      <a:pPr algn="l" fontAlgn="b">
                        <a:buNone/>
                      </a:pPr>
                      <a:r>
                        <a:rPr lang="en-US" sz="1400" b="1" u="none" strike="noStrike" dirty="0">
                          <a:effectLst/>
                          <a:latin typeface="+mj-lt"/>
                        </a:rPr>
                        <a:t>Wk9</a:t>
                      </a:r>
                      <a:endParaRPr lang="en-US" sz="1400" b="1" i="1" u="none" strike="noStrike" dirty="0">
                        <a:solidFill>
                          <a:srgbClr val="000000"/>
                        </a:solidFill>
                        <a:effectLst/>
                        <a:latin typeface="+mj-lt"/>
                      </a:endParaRPr>
                    </a:p>
                  </a:txBody>
                  <a:tcPr marL="564" marR="564" marT="564" marB="0" anchor="ctr">
                    <a:lnB w="12700" cap="flat" cmpd="sng" algn="ctr">
                      <a:solidFill>
                        <a:schemeClr val="accent1"/>
                      </a:solidFill>
                      <a:prstDash val="solid"/>
                      <a:round/>
                      <a:headEnd type="none" w="med" len="med"/>
                      <a:tailEnd type="none" w="med" len="med"/>
                    </a:lnB>
                    <a:noFill/>
                  </a:tcPr>
                </a:tc>
                <a:tc>
                  <a:txBody>
                    <a:bodyPr/>
                    <a:lstStyle/>
                    <a:p>
                      <a:pPr algn="l" fontAlgn="b">
                        <a:buNone/>
                      </a:pPr>
                      <a:r>
                        <a:rPr lang="en-US" sz="1400" b="1" u="none" strike="noStrike" dirty="0">
                          <a:effectLst/>
                          <a:latin typeface="+mj-lt"/>
                        </a:rPr>
                        <a:t>Wk10</a:t>
                      </a:r>
                      <a:endParaRPr lang="en-US" sz="1400" b="1" i="1" u="none" strike="noStrike" dirty="0">
                        <a:solidFill>
                          <a:srgbClr val="000000"/>
                        </a:solidFill>
                        <a:effectLst/>
                        <a:latin typeface="+mj-lt"/>
                      </a:endParaRPr>
                    </a:p>
                  </a:txBody>
                  <a:tcPr marL="564" marR="564" marT="564" marB="0" anchor="ctr">
                    <a:lnB w="12700" cap="flat" cmpd="sng" algn="ctr">
                      <a:solidFill>
                        <a:schemeClr val="accent1"/>
                      </a:solidFill>
                      <a:prstDash val="solid"/>
                      <a:round/>
                      <a:headEnd type="none" w="med" len="med"/>
                      <a:tailEnd type="none" w="med" len="med"/>
                    </a:lnB>
                    <a:noFill/>
                  </a:tcPr>
                </a:tc>
                <a:tc>
                  <a:txBody>
                    <a:bodyPr/>
                    <a:lstStyle/>
                    <a:p>
                      <a:pPr algn="l" fontAlgn="b">
                        <a:buNone/>
                      </a:pPr>
                      <a:r>
                        <a:rPr lang="en-US" sz="1400" b="1" u="none" strike="noStrike" dirty="0">
                          <a:effectLst/>
                          <a:latin typeface="+mj-lt"/>
                        </a:rPr>
                        <a:t>Wk11</a:t>
                      </a:r>
                      <a:endParaRPr lang="en-US" sz="1400" b="1" i="1" u="none" strike="noStrike" dirty="0">
                        <a:solidFill>
                          <a:srgbClr val="000000"/>
                        </a:solidFill>
                        <a:effectLst/>
                        <a:latin typeface="+mj-lt"/>
                      </a:endParaRPr>
                    </a:p>
                  </a:txBody>
                  <a:tcPr marL="564" marR="564" marT="564" marB="0" anchor="ctr">
                    <a:lnB w="12700" cap="flat" cmpd="sng" algn="ctr">
                      <a:solidFill>
                        <a:schemeClr val="accent1"/>
                      </a:solidFill>
                      <a:prstDash val="solid"/>
                      <a:round/>
                      <a:headEnd type="none" w="med" len="med"/>
                      <a:tailEnd type="none" w="med" len="med"/>
                    </a:lnB>
                    <a:noFill/>
                  </a:tcPr>
                </a:tc>
                <a:tc>
                  <a:txBody>
                    <a:bodyPr/>
                    <a:lstStyle/>
                    <a:p>
                      <a:pPr algn="l" fontAlgn="b">
                        <a:buNone/>
                      </a:pPr>
                      <a:r>
                        <a:rPr lang="en-US" sz="1400" b="1" u="none" strike="noStrike" dirty="0">
                          <a:effectLst/>
                          <a:latin typeface="+mj-lt"/>
                        </a:rPr>
                        <a:t>Wk12</a:t>
                      </a:r>
                      <a:endParaRPr lang="en-US" sz="1400" b="1" i="1" u="none" strike="noStrike" dirty="0">
                        <a:solidFill>
                          <a:srgbClr val="000000"/>
                        </a:solidFill>
                        <a:effectLst/>
                        <a:latin typeface="+mj-lt"/>
                      </a:endParaRPr>
                    </a:p>
                  </a:txBody>
                  <a:tcPr marL="564" marR="564" marT="564" marB="0" anchor="ctr">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255425832"/>
                  </a:ext>
                </a:extLst>
              </a:tr>
              <a:tr h="389996">
                <a:tc>
                  <a:txBody>
                    <a:bodyPr/>
                    <a:lstStyle/>
                    <a:p>
                      <a:pPr algn="l" fontAlgn="b">
                        <a:buNone/>
                      </a:pPr>
                      <a:r>
                        <a:rPr lang="en-US" sz="1400" b="1" u="none" strike="noStrike" dirty="0">
                          <a:effectLst/>
                          <a:latin typeface="+mj-lt"/>
                        </a:rPr>
                        <a:t>1. Foundation Phase</a:t>
                      </a:r>
                      <a:endParaRPr lang="en-US" sz="1400" b="1" i="0" u="none" strike="noStrike" dirty="0">
                        <a:solidFill>
                          <a:srgbClr val="000000"/>
                        </a:solidFill>
                        <a:effectLst/>
                        <a:latin typeface="+mj-lt"/>
                      </a:endParaRPr>
                    </a:p>
                  </a:txBody>
                  <a:tcPr marL="564" marR="564" marT="564" marB="0" anchor="ctr">
                    <a:lnT w="12700" cap="flat" cmpd="sng" algn="ctr">
                      <a:solidFill>
                        <a:schemeClr val="accent1"/>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R w="12700" cmpd="sng">
                      <a:noFill/>
                    </a:lnR>
                    <a:lnT w="12700" cap="flat" cmpd="sng" algn="ctr">
                      <a:solidFill>
                        <a:schemeClr val="accent1"/>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7695166"/>
                  </a:ext>
                </a:extLst>
              </a:tr>
              <a:tr h="389996">
                <a:tc>
                  <a:txBody>
                    <a:bodyPr/>
                    <a:lstStyle/>
                    <a:p>
                      <a:pPr algn="l" fontAlgn="b">
                        <a:buNone/>
                      </a:pPr>
                      <a:r>
                        <a:rPr lang="en-US" sz="1200" u="none" strike="noStrike" dirty="0">
                          <a:effectLst/>
                          <a:latin typeface="+mj-lt"/>
                        </a:rPr>
                        <a:t>1.1 Technical Build</a:t>
                      </a:r>
                      <a:endParaRPr lang="en-US" sz="1200" b="1" i="0" u="none" strike="noStrike" dirty="0">
                        <a:solidFill>
                          <a:srgbClr val="000000"/>
                        </a:solidFill>
                        <a:effectLst/>
                        <a:latin typeface="+mj-lt"/>
                      </a:endParaRPr>
                    </a:p>
                  </a:txBody>
                  <a:tcPr marL="564" marR="564" marT="564" marB="0" anchor="ct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l" fontAlgn="b">
                        <a:buNone/>
                      </a:pPr>
                      <a:r>
                        <a:rPr lang="en-US" sz="1200" u="none" strike="noStrike" dirty="0">
                          <a:effectLst/>
                          <a:latin typeface="+mj-lt"/>
                        </a:rPr>
                        <a:t>Core infrastructure for API and platform</a:t>
                      </a:r>
                      <a:endParaRPr lang="en-US" sz="1200" b="0" i="0" u="none" strike="noStrike" dirty="0">
                        <a:solidFill>
                          <a:srgbClr val="000000"/>
                        </a:solidFill>
                        <a:effectLst/>
                        <a:latin typeface="+mj-lt"/>
                      </a:endParaRPr>
                    </a:p>
                  </a:txBody>
                  <a:tcPr marL="564" marR="564" marT="564" marB="0" anchor="ctr">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9547620"/>
                  </a:ext>
                </a:extLst>
              </a:tr>
              <a:tr h="389996">
                <a:tc>
                  <a:txBody>
                    <a:bodyPr/>
                    <a:lstStyle/>
                    <a:p>
                      <a:pPr algn="l" fontAlgn="b">
                        <a:buNone/>
                      </a:pPr>
                      <a:r>
                        <a:rPr lang="en-US" sz="1200" u="none" strike="noStrike" dirty="0">
                          <a:effectLst/>
                          <a:latin typeface="+mj-lt"/>
                        </a:rPr>
                        <a:t>1.2 Business Setup</a:t>
                      </a:r>
                      <a:endParaRPr lang="en-US" sz="1200" b="1" i="0" u="none" strike="noStrike" dirty="0">
                        <a:solidFill>
                          <a:srgbClr val="000000"/>
                        </a:solidFill>
                        <a:effectLst/>
                        <a:latin typeface="+mj-lt"/>
                      </a:endParaRPr>
                    </a:p>
                  </a:txBody>
                  <a:tcPr marL="564" marR="564" marT="564" marB="0" anchor="ct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l" fontAlgn="b">
                        <a:buNone/>
                      </a:pPr>
                      <a:r>
                        <a:rPr lang="en-US" sz="1200" u="none" strike="noStrike" dirty="0">
                          <a:effectLst/>
                          <a:latin typeface="+mj-lt"/>
                        </a:rPr>
                        <a:t>Legal and regulatory establishment</a:t>
                      </a:r>
                      <a:endParaRPr lang="en-US" sz="1200" b="0" i="0" u="none" strike="noStrike" dirty="0">
                        <a:solidFill>
                          <a:srgbClr val="000000"/>
                        </a:solidFill>
                        <a:effectLst/>
                        <a:latin typeface="+mj-lt"/>
                      </a:endParaRPr>
                    </a:p>
                  </a:txBody>
                  <a:tcPr marL="564" marR="564" marT="564" marB="0" anchor="ctr">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6275814"/>
                  </a:ext>
                </a:extLst>
              </a:tr>
              <a:tr h="389996">
                <a:tc>
                  <a:txBody>
                    <a:bodyPr/>
                    <a:lstStyle/>
                    <a:p>
                      <a:pPr algn="l" fontAlgn="b">
                        <a:buNone/>
                      </a:pPr>
                      <a:r>
                        <a:rPr lang="en-US" sz="1400" b="1" u="none" strike="noStrike" dirty="0">
                          <a:effectLst/>
                          <a:latin typeface="+mj-lt"/>
                        </a:rPr>
                        <a:t>2. Productization Phase</a:t>
                      </a:r>
                      <a:endParaRPr lang="en-US" sz="1400" b="1" i="0" u="none" strike="noStrike" dirty="0">
                        <a:solidFill>
                          <a:srgbClr val="000000"/>
                        </a:solidFill>
                        <a:effectLst/>
                        <a:latin typeface="+mj-lt"/>
                      </a:endParaRPr>
                    </a:p>
                  </a:txBody>
                  <a:tcPr marL="564" marR="564" marT="564" marB="0" anchor="ct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2618174"/>
                  </a:ext>
                </a:extLst>
              </a:tr>
              <a:tr h="389996">
                <a:tc>
                  <a:txBody>
                    <a:bodyPr/>
                    <a:lstStyle/>
                    <a:p>
                      <a:pPr algn="l" fontAlgn="b">
                        <a:buNone/>
                      </a:pPr>
                      <a:r>
                        <a:rPr lang="en-US" sz="1200" u="none" strike="noStrike" dirty="0">
                          <a:effectLst/>
                          <a:latin typeface="+mj-lt"/>
                        </a:rPr>
                        <a:t>2.1 Product Development</a:t>
                      </a:r>
                      <a:endParaRPr lang="en-US" sz="1200" b="1" i="0" u="none" strike="noStrike" dirty="0">
                        <a:solidFill>
                          <a:srgbClr val="000000"/>
                        </a:solidFill>
                        <a:effectLst/>
                        <a:latin typeface="+mj-lt"/>
                      </a:endParaRPr>
                    </a:p>
                  </a:txBody>
                  <a:tcPr marL="564" marR="564" marT="564" marB="0" anchor="ct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l" fontAlgn="b">
                        <a:buNone/>
                      </a:pPr>
                      <a:r>
                        <a:rPr lang="en-US" sz="1200" u="none" strike="noStrike" dirty="0">
                          <a:effectLst/>
                          <a:latin typeface="+mj-lt"/>
                        </a:rPr>
                        <a:t>Build the front-end and loan workflows</a:t>
                      </a:r>
                      <a:endParaRPr lang="en-US" sz="1200" b="0" i="0" u="none" strike="noStrike" dirty="0">
                        <a:solidFill>
                          <a:srgbClr val="000000"/>
                        </a:solidFill>
                        <a:effectLst/>
                        <a:latin typeface="+mj-lt"/>
                      </a:endParaRPr>
                    </a:p>
                  </a:txBody>
                  <a:tcPr marL="564" marR="564" marT="564" marB="0" anchor="ctr">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488915"/>
                  </a:ext>
                </a:extLst>
              </a:tr>
              <a:tr h="389996">
                <a:tc>
                  <a:txBody>
                    <a:bodyPr/>
                    <a:lstStyle/>
                    <a:p>
                      <a:pPr algn="l" fontAlgn="b">
                        <a:buNone/>
                      </a:pPr>
                      <a:r>
                        <a:rPr lang="en-US" sz="1200" u="none" strike="noStrike">
                          <a:effectLst/>
                          <a:latin typeface="+mj-lt"/>
                        </a:rPr>
                        <a:t>2.2 Credit &amp; Risk Models</a:t>
                      </a:r>
                      <a:endParaRPr lang="en-US" sz="1200" b="1" i="0" u="none" strike="noStrike">
                        <a:solidFill>
                          <a:srgbClr val="000000"/>
                        </a:solidFill>
                        <a:effectLst/>
                        <a:latin typeface="+mj-lt"/>
                      </a:endParaRPr>
                    </a:p>
                  </a:txBody>
                  <a:tcPr marL="564" marR="564" marT="564" marB="0" anchor="ct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l" fontAlgn="b">
                        <a:buNone/>
                      </a:pPr>
                      <a:r>
                        <a:rPr lang="en-US" sz="1200" u="none" strike="noStrike" dirty="0">
                          <a:effectLst/>
                          <a:latin typeface="+mj-lt"/>
                        </a:rPr>
                        <a:t>Enhance risk management</a:t>
                      </a:r>
                      <a:endParaRPr lang="en-US" sz="1200" b="0" i="0" u="none" strike="noStrike" dirty="0">
                        <a:solidFill>
                          <a:srgbClr val="000000"/>
                        </a:solidFill>
                        <a:effectLst/>
                        <a:latin typeface="+mj-lt"/>
                      </a:endParaRPr>
                    </a:p>
                  </a:txBody>
                  <a:tcPr marL="564" marR="564" marT="564" marB="0" anchor="ctr">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5638856"/>
                  </a:ext>
                </a:extLst>
              </a:tr>
              <a:tr h="389996">
                <a:tc>
                  <a:txBody>
                    <a:bodyPr/>
                    <a:lstStyle/>
                    <a:p>
                      <a:pPr algn="l" fontAlgn="b">
                        <a:buNone/>
                      </a:pPr>
                      <a:r>
                        <a:rPr lang="en-US" sz="1200" u="none" strike="noStrike">
                          <a:effectLst/>
                          <a:latin typeface="+mj-lt"/>
                        </a:rPr>
                        <a:t>2.3 Funding Pools</a:t>
                      </a:r>
                      <a:endParaRPr lang="en-US" sz="1200" b="1" i="0" u="none" strike="noStrike">
                        <a:solidFill>
                          <a:srgbClr val="000000"/>
                        </a:solidFill>
                        <a:effectLst/>
                        <a:latin typeface="+mj-lt"/>
                      </a:endParaRPr>
                    </a:p>
                  </a:txBody>
                  <a:tcPr marL="564" marR="564" marT="564" marB="0" anchor="ct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l" fontAlgn="b">
                        <a:buNone/>
                      </a:pPr>
                      <a:r>
                        <a:rPr lang="en-US" sz="1200" u="none" strike="noStrike" dirty="0">
                          <a:effectLst/>
                          <a:latin typeface="+mj-lt"/>
                        </a:rPr>
                        <a:t>Secure liquidity for lending</a:t>
                      </a:r>
                      <a:endParaRPr lang="en-US" sz="1200" b="0" i="0" u="none" strike="noStrike" dirty="0">
                        <a:solidFill>
                          <a:srgbClr val="000000"/>
                        </a:solidFill>
                        <a:effectLst/>
                        <a:latin typeface="+mj-lt"/>
                      </a:endParaRPr>
                    </a:p>
                  </a:txBody>
                  <a:tcPr marL="564" marR="564" marT="564" marB="0" anchor="ctr">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6172638"/>
                  </a:ext>
                </a:extLst>
              </a:tr>
              <a:tr h="389996">
                <a:tc>
                  <a:txBody>
                    <a:bodyPr/>
                    <a:lstStyle/>
                    <a:p>
                      <a:pPr algn="l" fontAlgn="b">
                        <a:buNone/>
                      </a:pPr>
                      <a:r>
                        <a:rPr lang="en-US" sz="1400" b="1" u="none" strike="noStrike" dirty="0">
                          <a:effectLst/>
                          <a:latin typeface="+mj-lt"/>
                        </a:rPr>
                        <a:t>3. Market Launch Phase</a:t>
                      </a:r>
                      <a:endParaRPr lang="en-US" sz="1400" b="1" i="0" u="none" strike="noStrike" dirty="0">
                        <a:solidFill>
                          <a:srgbClr val="000000"/>
                        </a:solidFill>
                        <a:effectLst/>
                        <a:latin typeface="+mj-lt"/>
                      </a:endParaRPr>
                    </a:p>
                  </a:txBody>
                  <a:tcPr marL="564" marR="564" marT="564" marB="0" anchor="ct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676088633"/>
                  </a:ext>
                </a:extLst>
              </a:tr>
              <a:tr h="389996">
                <a:tc>
                  <a:txBody>
                    <a:bodyPr/>
                    <a:lstStyle/>
                    <a:p>
                      <a:pPr algn="l" fontAlgn="b">
                        <a:buNone/>
                      </a:pPr>
                      <a:r>
                        <a:rPr lang="en-US" sz="1200" u="none" strike="noStrike">
                          <a:effectLst/>
                          <a:latin typeface="+mj-lt"/>
                        </a:rPr>
                        <a:t>3.1 Pilot Program</a:t>
                      </a:r>
                      <a:endParaRPr lang="en-US" sz="1200" b="1" i="0" u="none" strike="noStrike">
                        <a:solidFill>
                          <a:srgbClr val="000000"/>
                        </a:solidFill>
                        <a:effectLst/>
                        <a:latin typeface="+mj-lt"/>
                      </a:endParaRPr>
                    </a:p>
                  </a:txBody>
                  <a:tcPr marL="564" marR="564" marT="564" marB="0" anchor="ct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l" fontAlgn="b">
                        <a:buNone/>
                      </a:pPr>
                      <a:r>
                        <a:rPr lang="en-US" sz="1200" u="none" strike="noStrike" dirty="0">
                          <a:effectLst/>
                          <a:latin typeface="+mj-lt"/>
                        </a:rPr>
                        <a:t>Controlled launch with early adopters</a:t>
                      </a:r>
                      <a:endParaRPr lang="en-US" sz="1200" b="0" i="0" u="none" strike="noStrike" dirty="0">
                        <a:solidFill>
                          <a:srgbClr val="000000"/>
                        </a:solidFill>
                        <a:effectLst/>
                        <a:latin typeface="+mj-lt"/>
                      </a:endParaRPr>
                    </a:p>
                  </a:txBody>
                  <a:tcPr marL="564" marR="564" marT="564" marB="0" anchor="ctr">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83009694"/>
                  </a:ext>
                </a:extLst>
              </a:tr>
              <a:tr h="389996">
                <a:tc>
                  <a:txBody>
                    <a:bodyPr/>
                    <a:lstStyle/>
                    <a:p>
                      <a:pPr algn="l" fontAlgn="b">
                        <a:buNone/>
                      </a:pPr>
                      <a:r>
                        <a:rPr lang="en-US" sz="1200" u="none" strike="noStrike">
                          <a:effectLst/>
                          <a:latin typeface="+mj-lt"/>
                        </a:rPr>
                        <a:t>3.2 Marketing &amp; Promotion</a:t>
                      </a:r>
                      <a:endParaRPr lang="en-US" sz="1200" b="1" i="0" u="none" strike="noStrike">
                        <a:solidFill>
                          <a:srgbClr val="000000"/>
                        </a:solidFill>
                        <a:effectLst/>
                        <a:latin typeface="+mj-lt"/>
                      </a:endParaRPr>
                    </a:p>
                  </a:txBody>
                  <a:tcPr marL="564" marR="564" marT="564" marB="0" anchor="ct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l" fontAlgn="b">
                        <a:buNone/>
                      </a:pPr>
                      <a:r>
                        <a:rPr lang="en-US" sz="1200" u="none" strike="noStrike" dirty="0">
                          <a:effectLst/>
                          <a:latin typeface="+mj-lt"/>
                        </a:rPr>
                        <a:t>Drive awareness and adoption</a:t>
                      </a:r>
                      <a:endParaRPr lang="en-US" sz="1200" b="0" i="0" u="none" strike="noStrike" dirty="0">
                        <a:solidFill>
                          <a:srgbClr val="000000"/>
                        </a:solidFill>
                        <a:effectLst/>
                        <a:latin typeface="+mj-lt"/>
                      </a:endParaRPr>
                    </a:p>
                  </a:txBody>
                  <a:tcPr marL="564" marR="564" marT="564" marB="0" anchor="ctr">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057379569"/>
                  </a:ext>
                </a:extLst>
              </a:tr>
              <a:tr h="389996">
                <a:tc>
                  <a:txBody>
                    <a:bodyPr/>
                    <a:lstStyle/>
                    <a:p>
                      <a:pPr algn="l" fontAlgn="b">
                        <a:buNone/>
                      </a:pPr>
                      <a:r>
                        <a:rPr lang="en-US" sz="1200" u="none" strike="noStrike">
                          <a:effectLst/>
                          <a:latin typeface="+mj-lt"/>
                        </a:rPr>
                        <a:t>3.3 Feedback &amp; Scaling</a:t>
                      </a:r>
                      <a:endParaRPr lang="en-US" sz="1200" b="1" i="0" u="none" strike="noStrike">
                        <a:solidFill>
                          <a:srgbClr val="000000"/>
                        </a:solidFill>
                        <a:effectLst/>
                        <a:latin typeface="+mj-lt"/>
                      </a:endParaRPr>
                    </a:p>
                  </a:txBody>
                  <a:tcPr marL="564" marR="564" marT="564" marB="0" anchor="ctr">
                    <a:lnT w="12700" cap="flat" cmpd="sng" algn="ctr">
                      <a:solidFill>
                        <a:schemeClr val="accent1">
                          <a:lumMod val="20000"/>
                          <a:lumOff val="80000"/>
                        </a:schemeClr>
                      </a:solidFill>
                      <a:prstDash val="solid"/>
                      <a:round/>
                      <a:headEnd type="none" w="med" len="med"/>
                      <a:tailEnd type="none" w="med" len="med"/>
                    </a:lnT>
                    <a:noFill/>
                  </a:tcPr>
                </a:tc>
                <a:tc>
                  <a:txBody>
                    <a:bodyPr/>
                    <a:lstStyle/>
                    <a:p>
                      <a:pPr algn="l" fontAlgn="b">
                        <a:buNone/>
                      </a:pPr>
                      <a:r>
                        <a:rPr lang="en-US" sz="1200" u="none" strike="noStrike">
                          <a:effectLst/>
                          <a:latin typeface="+mj-lt"/>
                        </a:rPr>
                        <a:t>Optimize for growth</a:t>
                      </a:r>
                      <a:endParaRPr lang="en-US" sz="1200" b="0" i="0" u="none" strike="noStrike">
                        <a:solidFill>
                          <a:srgbClr val="000000"/>
                        </a:solidFill>
                        <a:effectLst/>
                        <a:latin typeface="+mj-lt"/>
                      </a:endParaRPr>
                    </a:p>
                  </a:txBody>
                  <a:tcPr marL="564" marR="564" marT="564" marB="0" anchor="ctr">
                    <a:lnR w="12700" cmpd="sng">
                      <a:noFill/>
                    </a:lnR>
                    <a:lnT w="12700" cap="flat" cmpd="sng" algn="ctr">
                      <a:solidFill>
                        <a:schemeClr val="accent1">
                          <a:lumMod val="20000"/>
                          <a:lumOff val="80000"/>
                        </a:schemeClr>
                      </a:solidFill>
                      <a:prstDash val="solid"/>
                      <a:round/>
                      <a:headEnd type="none" w="med" len="med"/>
                      <a:tailEnd type="none" w="med" len="med"/>
                    </a:lnT>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endParaRPr lang="en-US" sz="1200" b="0" i="0" u="none" strike="noStrike">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gn="l" fontAlgn="b">
                        <a:buNone/>
                      </a:pPr>
                      <a:endParaRPr lang="en-US" sz="1200" b="0" i="0" u="none" strike="noStrike" dirty="0">
                        <a:solidFill>
                          <a:srgbClr val="000000"/>
                        </a:solidFill>
                        <a:effectLst/>
                        <a:latin typeface="+mj-lt"/>
                      </a:endParaRPr>
                    </a:p>
                  </a:txBody>
                  <a:tcPr marL="564" marR="564" marT="564" marB="0" anchor="ctr">
                    <a:lnL w="12700" cmpd="sng">
                      <a:noFill/>
                    </a:lnL>
                    <a:lnR w="12700" cmpd="sng">
                      <a:noFill/>
                    </a:lnR>
                    <a:lnT w="12700" cap="flat" cmpd="sng" algn="ctr">
                      <a:solidFill>
                        <a:schemeClr val="accent1">
                          <a:lumMod val="20000"/>
                          <a:lumOff val="8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422949288"/>
                  </a:ext>
                </a:extLst>
              </a:tr>
            </a:tbl>
          </a:graphicData>
        </a:graphic>
      </p:graphicFrame>
      <p:sp>
        <p:nvSpPr>
          <p:cNvPr id="7" name="Content Placeholder 4">
            <a:extLst>
              <a:ext uri="{FF2B5EF4-FFF2-40B4-BE49-F238E27FC236}">
                <a16:creationId xmlns:a16="http://schemas.microsoft.com/office/drawing/2014/main" id="{41EECD93-E47E-66E7-4EAD-99269E1139BF}"/>
              </a:ext>
            </a:extLst>
          </p:cNvPr>
          <p:cNvSpPr txBox="1">
            <a:spLocks/>
          </p:cNvSpPr>
          <p:nvPr/>
        </p:nvSpPr>
        <p:spPr>
          <a:xfrm>
            <a:off x="609600" y="192088"/>
            <a:ext cx="10972800" cy="257175"/>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9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Business Case</a:t>
            </a:r>
          </a:p>
        </p:txBody>
      </p:sp>
    </p:spTree>
    <p:extLst>
      <p:ext uri="{BB962C8B-B14F-4D97-AF65-F5344CB8AC3E}">
        <p14:creationId xmlns:p14="http://schemas.microsoft.com/office/powerpoint/2010/main" val="410176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FF369-D67C-EB9B-8397-08EA982AE757}"/>
              </a:ext>
            </a:extLst>
          </p:cNvPr>
          <p:cNvSpPr>
            <a:spLocks noGrp="1"/>
          </p:cNvSpPr>
          <p:nvPr>
            <p:ph type="title"/>
          </p:nvPr>
        </p:nvSpPr>
        <p:spPr/>
        <p:txBody>
          <a:bodyPr/>
          <a:lstStyle/>
          <a:p>
            <a:r>
              <a:rPr lang="en-US" dirty="0"/>
              <a:t>Our team provides deep knowledge in KSA investment market with wide experience in entrepreneurship </a:t>
            </a:r>
          </a:p>
        </p:txBody>
      </p:sp>
      <p:sp>
        <p:nvSpPr>
          <p:cNvPr id="4" name="Text Placeholder 3">
            <a:extLst>
              <a:ext uri="{FF2B5EF4-FFF2-40B4-BE49-F238E27FC236}">
                <a16:creationId xmlns:a16="http://schemas.microsoft.com/office/drawing/2014/main" id="{A3F60BA3-B427-5D77-1B84-01DA147C716C}"/>
              </a:ext>
            </a:extLst>
          </p:cNvPr>
          <p:cNvSpPr>
            <a:spLocks noGrp="1"/>
          </p:cNvSpPr>
          <p:nvPr>
            <p:ph type="body" sz="quarter" idx="13"/>
          </p:nvPr>
        </p:nvSpPr>
        <p:spPr/>
        <p:txBody>
          <a:bodyPr/>
          <a:lstStyle/>
          <a:p>
            <a:endParaRPr lang="en-US"/>
          </a:p>
        </p:txBody>
      </p:sp>
      <p:sp>
        <p:nvSpPr>
          <p:cNvPr id="5" name="Content Placeholder 4">
            <a:extLst>
              <a:ext uri="{FF2B5EF4-FFF2-40B4-BE49-F238E27FC236}">
                <a16:creationId xmlns:a16="http://schemas.microsoft.com/office/drawing/2014/main" id="{3CC71A0E-921D-AC7C-9E87-672168F3DB96}"/>
              </a:ext>
            </a:extLst>
          </p:cNvPr>
          <p:cNvSpPr>
            <a:spLocks noGrp="1"/>
          </p:cNvSpPr>
          <p:nvPr>
            <p:ph sz="quarter" idx="14"/>
          </p:nvPr>
        </p:nvSpPr>
        <p:spPr/>
        <p:txBody>
          <a:bodyPr/>
          <a:lstStyle/>
          <a:p>
            <a:r>
              <a:rPr lang="en-US" dirty="0"/>
              <a:t>Business Case</a:t>
            </a:r>
          </a:p>
        </p:txBody>
      </p:sp>
      <p:pic>
        <p:nvPicPr>
          <p:cNvPr id="6" name="Picture 2" descr="Profile photo of Juaithen Al Fahhad">
            <a:extLst>
              <a:ext uri="{FF2B5EF4-FFF2-40B4-BE49-F238E27FC236}">
                <a16:creationId xmlns:a16="http://schemas.microsoft.com/office/drawing/2014/main" id="{2B3A96BC-0F08-CD3B-21CD-B2E4ED7A9844}"/>
              </a:ext>
            </a:extLst>
          </p:cNvPr>
          <p:cNvPicPr>
            <a:picLocks noChangeAspect="1" noChangeArrowheads="1"/>
          </p:cNvPicPr>
          <p:nvPr/>
        </p:nvPicPr>
        <p:blipFill>
          <a:blip r:embed="rId2">
            <a:grayscl/>
            <a:extLst>
              <a:ext uri="{28A0092B-C50C-407E-A947-70E740481C1C}">
                <a14:useLocalDpi xmlns:a14="http://schemas.microsoft.com/office/drawing/2010/main" val="0"/>
              </a:ext>
            </a:extLst>
          </a:blip>
          <a:srcRect/>
          <a:stretch>
            <a:fillRect/>
          </a:stretch>
        </p:blipFill>
        <p:spPr bwMode="auto">
          <a:xfrm>
            <a:off x="1506220" y="1695002"/>
            <a:ext cx="2423160" cy="2423160"/>
          </a:xfrm>
          <a:prstGeom prst="ellipse">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4149B6B-2E82-807B-1189-BE00D7279CBF}"/>
              </a:ext>
            </a:extLst>
          </p:cNvPr>
          <p:cNvSpPr/>
          <p:nvPr/>
        </p:nvSpPr>
        <p:spPr>
          <a:xfrm>
            <a:off x="1505883" y="4208928"/>
            <a:ext cx="2423834" cy="76494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latin typeface="+mj-lt"/>
              </a:rPr>
              <a:t>Juaithen</a:t>
            </a:r>
            <a:r>
              <a:rPr lang="en-US" sz="1600" dirty="0">
                <a:solidFill>
                  <a:schemeClr val="tx1"/>
                </a:solidFill>
                <a:latin typeface="+mj-lt"/>
              </a:rPr>
              <a:t> Al Fahad</a:t>
            </a:r>
          </a:p>
          <a:p>
            <a:pPr algn="ctr"/>
            <a:r>
              <a:rPr lang="en-US" sz="1400" b="1" i="1" dirty="0">
                <a:solidFill>
                  <a:schemeClr val="tx1"/>
                </a:solidFill>
                <a:latin typeface="+mj-lt"/>
              </a:rPr>
              <a:t>Chief Executive Officer</a:t>
            </a:r>
            <a:endParaRPr lang="en-US" sz="1600" b="1" i="1" dirty="0">
              <a:solidFill>
                <a:schemeClr val="tx1"/>
              </a:solidFill>
              <a:latin typeface="+mj-lt"/>
            </a:endParaRPr>
          </a:p>
        </p:txBody>
      </p:sp>
      <p:sp>
        <p:nvSpPr>
          <p:cNvPr id="13" name="Rectangle 12">
            <a:extLst>
              <a:ext uri="{FF2B5EF4-FFF2-40B4-BE49-F238E27FC236}">
                <a16:creationId xmlns:a16="http://schemas.microsoft.com/office/drawing/2014/main" id="{62CA2C79-26B1-952E-E996-0285AA0D8F5D}"/>
              </a:ext>
            </a:extLst>
          </p:cNvPr>
          <p:cNvSpPr/>
          <p:nvPr/>
        </p:nvSpPr>
        <p:spPr>
          <a:xfrm>
            <a:off x="1299029" y="4835526"/>
            <a:ext cx="2837542"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b="1" i="1" dirty="0">
                <a:solidFill>
                  <a:schemeClr val="tx1"/>
                </a:solidFill>
                <a:latin typeface="+mj-lt"/>
              </a:rPr>
              <a:t>Experience:</a:t>
            </a:r>
          </a:p>
          <a:p>
            <a:pPr marL="171450" indent="-171450">
              <a:buFont typeface="Arial" panose="020B0604020202020204" pitchFamily="34" charset="0"/>
              <a:buChar char="ꟷ"/>
            </a:pPr>
            <a:r>
              <a:rPr lang="en-US" sz="1200" i="1" dirty="0">
                <a:solidFill>
                  <a:schemeClr val="tx1"/>
                </a:solidFill>
                <a:latin typeface="+mj-lt"/>
              </a:rPr>
              <a:t>Serial entrepreneur with a portfolio of two startups in the Fintech and entertainment</a:t>
            </a:r>
          </a:p>
          <a:p>
            <a:pPr marL="171450" indent="-171450">
              <a:buFont typeface="Arial" panose="020B0604020202020204" pitchFamily="34" charset="0"/>
              <a:buChar char="ꟷ"/>
            </a:pPr>
            <a:r>
              <a:rPr lang="en-US" sz="1200" i="1" dirty="0">
                <a:solidFill>
                  <a:schemeClr val="tx1"/>
                </a:solidFill>
                <a:latin typeface="+mj-lt"/>
              </a:rPr>
              <a:t>Ex-Mobily with 29+ years of experience of driving sales</a:t>
            </a:r>
          </a:p>
        </p:txBody>
      </p:sp>
      <p:sp>
        <p:nvSpPr>
          <p:cNvPr id="7" name="Rectangle 6">
            <a:extLst>
              <a:ext uri="{FF2B5EF4-FFF2-40B4-BE49-F238E27FC236}">
                <a16:creationId xmlns:a16="http://schemas.microsoft.com/office/drawing/2014/main" id="{3359FD9F-AEA8-1F6A-2B53-86E161969361}"/>
              </a:ext>
            </a:extLst>
          </p:cNvPr>
          <p:cNvSpPr/>
          <p:nvPr/>
        </p:nvSpPr>
        <p:spPr>
          <a:xfrm>
            <a:off x="8262620" y="4208928"/>
            <a:ext cx="2423834" cy="76494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j-lt"/>
              </a:rPr>
              <a:t>Hassan Alnamer</a:t>
            </a:r>
          </a:p>
          <a:p>
            <a:pPr algn="ctr"/>
            <a:r>
              <a:rPr lang="en-US" sz="1400" b="1" i="1" dirty="0">
                <a:solidFill>
                  <a:schemeClr val="tx1"/>
                </a:solidFill>
                <a:latin typeface="+mj-lt"/>
              </a:rPr>
              <a:t>Chief Business Officer</a:t>
            </a:r>
            <a:endParaRPr lang="en-US" sz="1600" b="1" i="1" dirty="0">
              <a:solidFill>
                <a:schemeClr val="tx1"/>
              </a:solidFill>
              <a:latin typeface="+mj-lt"/>
            </a:endParaRPr>
          </a:p>
        </p:txBody>
      </p:sp>
      <p:pic>
        <p:nvPicPr>
          <p:cNvPr id="8" name="Picture 7" descr="A person wearing glasses and a head scarf&#10;&#10;AI-generated content may be incorrect.">
            <a:extLst>
              <a:ext uri="{FF2B5EF4-FFF2-40B4-BE49-F238E27FC236}">
                <a16:creationId xmlns:a16="http://schemas.microsoft.com/office/drawing/2014/main" id="{B03ECEBD-E51F-372A-98C9-C89FDECDC332}"/>
              </a:ext>
            </a:extLst>
          </p:cNvPr>
          <p:cNvPicPr>
            <a:picLocks noChangeAspect="1"/>
          </p:cNvPicPr>
          <p:nvPr/>
        </p:nvPicPr>
        <p:blipFill rotWithShape="1">
          <a:blip r:embed="rId3">
            <a:grayscl/>
            <a:extLst>
              <a:ext uri="{28A0092B-C50C-407E-A947-70E740481C1C}">
                <a14:useLocalDpi xmlns:a14="http://schemas.microsoft.com/office/drawing/2010/main" val="0"/>
              </a:ext>
            </a:extLst>
          </a:blip>
          <a:srcRect/>
          <a:stretch/>
        </p:blipFill>
        <p:spPr>
          <a:xfrm>
            <a:off x="8262620" y="1695002"/>
            <a:ext cx="2423160" cy="2423160"/>
          </a:xfrm>
          <a:prstGeom prst="ellipse">
            <a:avLst/>
          </a:prstGeom>
        </p:spPr>
      </p:pic>
      <p:sp>
        <p:nvSpPr>
          <p:cNvPr id="14" name="Rectangle 13">
            <a:extLst>
              <a:ext uri="{FF2B5EF4-FFF2-40B4-BE49-F238E27FC236}">
                <a16:creationId xmlns:a16="http://schemas.microsoft.com/office/drawing/2014/main" id="{964E8846-24B4-7877-7125-7CF6AACE375D}"/>
              </a:ext>
            </a:extLst>
          </p:cNvPr>
          <p:cNvSpPr/>
          <p:nvPr/>
        </p:nvSpPr>
        <p:spPr>
          <a:xfrm>
            <a:off x="8055429" y="4835526"/>
            <a:ext cx="2837542"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b="1" i="1" dirty="0">
                <a:solidFill>
                  <a:schemeClr val="tx1"/>
                </a:solidFill>
                <a:latin typeface="+mj-lt"/>
              </a:rPr>
              <a:t>Experience:</a:t>
            </a:r>
          </a:p>
          <a:p>
            <a:pPr marL="171450" indent="-171450">
              <a:buFont typeface="Arial" panose="020B0604020202020204" pitchFamily="34" charset="0"/>
              <a:buChar char="ꟷ"/>
            </a:pPr>
            <a:r>
              <a:rPr lang="en-US" sz="1200" i="1" dirty="0">
                <a:solidFill>
                  <a:schemeClr val="tx1"/>
                </a:solidFill>
                <a:latin typeface="+mj-lt"/>
              </a:rPr>
              <a:t>Management Consultant with 2+ years of supporting the public and private entities</a:t>
            </a:r>
          </a:p>
          <a:p>
            <a:pPr marL="171450" indent="-171450">
              <a:buFont typeface="Arial" panose="020B0604020202020204" pitchFamily="34" charset="0"/>
              <a:buChar char="ꟷ"/>
            </a:pPr>
            <a:r>
              <a:rPr lang="en-US" sz="1200" i="1" dirty="0">
                <a:solidFill>
                  <a:schemeClr val="tx1"/>
                </a:solidFill>
                <a:latin typeface="+mj-lt"/>
              </a:rPr>
              <a:t>Robust 2+ years of experience in Software development and AI</a:t>
            </a:r>
          </a:p>
        </p:txBody>
      </p:sp>
      <p:sp>
        <p:nvSpPr>
          <p:cNvPr id="11" name="Rectangle 10">
            <a:extLst>
              <a:ext uri="{FF2B5EF4-FFF2-40B4-BE49-F238E27FC236}">
                <a16:creationId xmlns:a16="http://schemas.microsoft.com/office/drawing/2014/main" id="{ED157292-8CC9-04B2-249C-D87ED678D40A}"/>
              </a:ext>
            </a:extLst>
          </p:cNvPr>
          <p:cNvSpPr/>
          <p:nvPr/>
        </p:nvSpPr>
        <p:spPr>
          <a:xfrm>
            <a:off x="4884083" y="4208928"/>
            <a:ext cx="2423834" cy="76494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j-lt"/>
              </a:rPr>
              <a:t>Asma </a:t>
            </a:r>
            <a:r>
              <a:rPr lang="en-US" sz="1600" dirty="0" err="1">
                <a:solidFill>
                  <a:schemeClr val="tx1"/>
                </a:solidFill>
                <a:latin typeface="+mj-lt"/>
              </a:rPr>
              <a:t>Alyemni</a:t>
            </a:r>
            <a:endParaRPr lang="en-US" sz="1600" dirty="0">
              <a:solidFill>
                <a:schemeClr val="tx1"/>
              </a:solidFill>
              <a:latin typeface="+mj-lt"/>
            </a:endParaRPr>
          </a:p>
          <a:p>
            <a:pPr algn="ctr"/>
            <a:r>
              <a:rPr lang="en-US" sz="1400" b="1" i="1" dirty="0">
                <a:solidFill>
                  <a:schemeClr val="tx1"/>
                </a:solidFill>
                <a:latin typeface="+mj-lt"/>
              </a:rPr>
              <a:t>Chief Technology Officer</a:t>
            </a:r>
            <a:endParaRPr lang="en-US" sz="1600" b="1" i="1" dirty="0">
              <a:solidFill>
                <a:schemeClr val="tx1"/>
              </a:solidFill>
              <a:latin typeface="+mj-lt"/>
            </a:endParaRPr>
          </a:p>
        </p:txBody>
      </p:sp>
      <p:sp>
        <p:nvSpPr>
          <p:cNvPr id="15" name="Rectangle 14">
            <a:extLst>
              <a:ext uri="{FF2B5EF4-FFF2-40B4-BE49-F238E27FC236}">
                <a16:creationId xmlns:a16="http://schemas.microsoft.com/office/drawing/2014/main" id="{E9788751-48DB-ED98-50BA-6063F51A6C76}"/>
              </a:ext>
            </a:extLst>
          </p:cNvPr>
          <p:cNvSpPr/>
          <p:nvPr/>
        </p:nvSpPr>
        <p:spPr>
          <a:xfrm>
            <a:off x="4677229" y="4835526"/>
            <a:ext cx="2837542"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b="1" i="1" dirty="0">
                <a:solidFill>
                  <a:schemeClr val="tx1"/>
                </a:solidFill>
                <a:latin typeface="+mj-lt"/>
              </a:rPr>
              <a:t>Experience:</a:t>
            </a:r>
          </a:p>
          <a:p>
            <a:pPr marL="171450" indent="-171450">
              <a:buFont typeface="Arial" panose="020B0604020202020204" pitchFamily="34" charset="0"/>
              <a:buChar char="ꟷ"/>
            </a:pPr>
            <a:r>
              <a:rPr lang="en-US" sz="1200" i="1" dirty="0">
                <a:solidFill>
                  <a:schemeClr val="tx1"/>
                </a:solidFill>
                <a:latin typeface="+mj-lt"/>
              </a:rPr>
              <a:t>CISO of  top public entity with 15+ years in information technology </a:t>
            </a:r>
          </a:p>
          <a:p>
            <a:pPr marL="171450" indent="-171450">
              <a:buFont typeface="Arial" panose="020B0604020202020204" pitchFamily="34" charset="0"/>
              <a:buChar char="ꟷ"/>
            </a:pPr>
            <a:r>
              <a:rPr lang="en-US" sz="1200" i="1" dirty="0">
                <a:solidFill>
                  <a:schemeClr val="tx1"/>
                </a:solidFill>
                <a:latin typeface="+mj-lt"/>
              </a:rPr>
              <a:t>Member Board of Trustees in National Information Technology Academy</a:t>
            </a:r>
          </a:p>
        </p:txBody>
      </p:sp>
      <p:pic>
        <p:nvPicPr>
          <p:cNvPr id="2050" name="Picture 2" descr="Profile photo of Asma Alyemni">
            <a:extLst>
              <a:ext uri="{FF2B5EF4-FFF2-40B4-BE49-F238E27FC236}">
                <a16:creationId xmlns:a16="http://schemas.microsoft.com/office/drawing/2014/main" id="{449CD6E4-DE29-BD89-6FED-5C41E24D290A}"/>
              </a:ext>
            </a:extLst>
          </p:cNvPr>
          <p:cNvPicPr>
            <a:picLocks noChangeAspect="1" noChangeArrowheads="1"/>
          </p:cNvPicPr>
          <p:nvPr/>
        </p:nvPicPr>
        <p:blipFill rotWithShape="1">
          <a:blip r:embed="rId4">
            <a:grayscl/>
            <a:extLst>
              <a:ext uri="{28A0092B-C50C-407E-A947-70E740481C1C}">
                <a14:useLocalDpi xmlns:a14="http://schemas.microsoft.com/office/drawing/2010/main" val="0"/>
              </a:ext>
            </a:extLst>
          </a:blip>
          <a:srcRect/>
          <a:stretch>
            <a:fillRect/>
          </a:stretch>
        </p:blipFill>
        <p:spPr bwMode="auto">
          <a:xfrm>
            <a:off x="4884420" y="1695002"/>
            <a:ext cx="2423160" cy="2423160"/>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6687778"/>
      </p:ext>
    </p:extLst>
  </p:cSld>
  <p:clrMapOvr>
    <a:masterClrMapping/>
  </p:clrMapOvr>
</p:sld>
</file>

<file path=ppt/theme/theme1.xml><?xml version="1.0" encoding="utf-8"?>
<a:theme xmlns:a="http://schemas.openxmlformats.org/drawingml/2006/main" name="Custom Design">
  <a:themeElements>
    <a:clrScheme name="Custom 2">
      <a:dk1>
        <a:sysClr val="windowText" lastClr="000000"/>
      </a:dk1>
      <a:lt1>
        <a:sysClr val="window" lastClr="FFFFFF"/>
      </a:lt1>
      <a:dk2>
        <a:srgbClr val="373545"/>
      </a:dk2>
      <a:lt2>
        <a:srgbClr val="CEDBE6"/>
      </a:lt2>
      <a:accent1>
        <a:srgbClr val="BE902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00"/>
        </a:solidFill>
        <a:ln>
          <a:noFill/>
        </a:ln>
      </a:spPr>
      <a:bodyPr rtlCol="0" anchor="ctr"/>
      <a:lstStyle>
        <a:defPPr algn="ctr">
          <a:defRPr sz="1200" dirty="0" err="1" smtClean="0">
            <a:solidFill>
              <a:schemeClr val="tx1"/>
            </a:solidFill>
            <a:latin typeface="+mj-lt"/>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1">
    <wetp:webextensionref xmlns:r="http://schemas.openxmlformats.org/officeDocument/2006/relationships" r:id="rId1"/>
  </wetp:taskpane>
  <wetp:taskpane dockstate="right" visibility="0" width="700" row="2">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F3AB042D-DABC-4215-B0FB-42D4EABD98AB}">
  <we:reference id="wa200006046" version="1.0.0.0" store="en-US" storeType="OMEX"/>
  <we:alternateReferences>
    <we:reference id="WA200006046" version="1.0.0.0" store="WA200006046"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43DEC304-C3D7-4176-9C5C-DF61358A4009}">
  <we:reference id="wa104381063" version="1.0.0.1" store="en-US" storeType="OMEX"/>
  <we:alternateReferences>
    <we:reference id="wa104381063" version="1.0.0.1" store="wa10438106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26181</TotalTime>
  <Words>930</Words>
  <Application>Microsoft Office PowerPoint</Application>
  <PresentationFormat>Widescreen</PresentationFormat>
  <Paragraphs>163</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Times New Roman</vt:lpstr>
      <vt:lpstr>Custom Design</vt:lpstr>
      <vt:lpstr>Xlta</vt:lpstr>
      <vt:lpstr>Feasibility Study Requirements</vt:lpstr>
      <vt:lpstr>We have deeply studied investor journey to understand the problems investors face and where our value is most maximized</vt:lpstr>
      <vt:lpstr>We will provide investors with the option to get instant funds to ensure seizing the opportunity and simplifying the process of acquiring funds</vt:lpstr>
      <vt:lpstr>PowerPoint Presentation</vt:lpstr>
      <vt:lpstr>We will bring our Invest Now Pay Later solution to provide instant loans at competitive interest that can be paid over 4 payments</vt:lpstr>
      <vt:lpstr>In the first year from our launch, we will be able to generate SAR 16 Million in revenue through provision of instant loans for investors</vt:lpstr>
      <vt:lpstr>We will deliver our solution over 12-week period where we will build fund pools, loan provision process, and driving promotion to clients</vt:lpstr>
      <vt:lpstr>Our team provides deep knowledge in KSA investment market with wide experience in entrepreneurship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Hassan Alnamer</dc:creator>
  <cp:lastModifiedBy>Hassan Alnamer</cp:lastModifiedBy>
  <cp:revision>44</cp:revision>
  <dcterms:created xsi:type="dcterms:W3CDTF">2025-01-10T15:38:02Z</dcterms:created>
  <dcterms:modified xsi:type="dcterms:W3CDTF">2025-09-03T18:30:10Z</dcterms:modified>
</cp:coreProperties>
</file>